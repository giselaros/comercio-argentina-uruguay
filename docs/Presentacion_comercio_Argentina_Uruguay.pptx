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7.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8.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ab78803c-6daa-28f5-f886-0a60f49133d5}">
          <p14:sldIdLst>
            <p14:sldId id="256"/>
            <p14:sldId id="257"/>
            <p14:sldId id="258"/>
          </p14:sldIdLst>
        </p14:section>
        <p14:section name="Cómo lo resolvimos" id="{afc895ff-5473-1901-dfed-c18f53280962}">
          <p14:sldIdLst>
            <p14:sldId id="259"/>
            <p14:sldId id="260"/>
          </p14:sldIdLst>
        </p14:section>
        <p14:section name="Hallazgos" id="{0c7df092-c70a-4df5-b2df-2823b6feda3a}">
          <p14:sldIdLst>
            <p14:sldId id="261"/>
            <p14:sldId id="262"/>
            <p14:sldId id="263"/>
            <p14:sldId id="264"/>
            <p14:sldId id="265"/>
          </p14:sldIdLst>
        </p14:section>
        <p14:section name="Solución" id="{30b83275-a4d5-b521-0335-b5db6f161438}">
          <p14:sldIdLst>
            <p14:sldId id="266"/>
          </p14:sldIdLst>
        </p14:section>
        <p14:section name="Cierre" id="{6f7428fc-3be3-46af-9182-686b62974d13}">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4304F"/>
                </a:solidFill>
                <a:latin typeface="+mn-lt"/>
              </a:defRPr>
            </a:pPr>
            <a:r>
              <a:rPr sz="1500" b="0" i="0" u="none" strike="noStrike">
                <a:solidFill>
                  <a:srgbClr val="14304F"/>
                </a:solidFill>
                <a:latin typeface="+mn-lt"/>
              </a:rPr>
              <a:t>Argentina (millones de US$)</a:t>
            </a:r>
          </a:p>
        </c:rich>
      </c:tx>
      <c:layout/>
      <c:overlay val="0"/>
    </c:title>
    <c:autoTitleDeleted val="0"/>
    <c:plotArea>
      <c:layout/>
      <c:lineChart>
        <c:varyColors val="0"/>
        <c:ser>
          <c:idx val="0"/>
          <c:order val="0"/>
          <c:tx>
            <c:strRef>
              <c:f>Sheet1!$B$1</c:f>
              <c:strCache>
                <c:ptCount val="1"/>
                <c:pt idx="0">
                  <c:v>Exportaciones</c:v>
                </c:pt>
              </c:strCache>
            </c:strRef>
          </c:tx>
          <c:spPr>
            <a:solidFill>
              <a:srgbClr val="9AA5B1"/>
            </a:solidFill>
            <a:ln w="31750" cap="flat">
              <a:solidFill>
                <a:srgbClr val="9AA5B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AA5B1"/>
              </a:solidFill>
              <a:ln w="9525" cap="flat">
                <a:solidFill>
                  <a:srgbClr val="9AA5B1"/>
                </a:solidFill>
                <a:prstDash val="solid"/>
                <a:round/>
              </a:ln>
              <a:effectLst/>
            </c:spPr>
          </c:marker>
          <c:cat>
            <c:multiLvlStrRef>
              <c:f>Sheet1!$A$2:$A$31</c:f>
              <c:multiLvlStrCache>
                <c:ptCount val="30"/>
                <c:lvl>
                  <c:pt idx="0">
                    <c:v>1994</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pt idx="27">
                    <c:v>2021</c:v>
                  </c:pt>
                  <c:pt idx="28">
                    <c:v>2022</c:v>
                  </c:pt>
                  <c:pt idx="29">
                    <c:v>2023</c:v>
                  </c:pt>
                </c:lvl>
              </c:multiLvlStrCache>
            </c:multiLvlStrRef>
          </c:cat>
          <c:val>
            <c:numRef>
              <c:f>Sheet1!$B$2:$B$31</c:f>
              <c:numCache>
                <c:formatCode>General</c:formatCode>
                <c:ptCount val="30"/>
                <c:pt idx="0">
                  <c:v>15839</c:v>
                </c:pt>
                <c:pt idx="1">
                  <c:v>20963</c:v>
                </c:pt>
                <c:pt idx="2">
                  <c:v>23810</c:v>
                </c:pt>
                <c:pt idx="3">
                  <c:v>26431</c:v>
                </c:pt>
                <c:pt idx="4">
                  <c:v>26434</c:v>
                </c:pt>
                <c:pt idx="5">
                  <c:v>23333</c:v>
                </c:pt>
                <c:pt idx="6">
                  <c:v>26341</c:v>
                </c:pt>
                <c:pt idx="7">
                  <c:v>26610</c:v>
                </c:pt>
                <c:pt idx="8">
                  <c:v>25709</c:v>
                </c:pt>
                <c:pt idx="9">
                  <c:v>29939</c:v>
                </c:pt>
                <c:pt idx="10">
                  <c:v>34576</c:v>
                </c:pt>
                <c:pt idx="11">
                  <c:v>40106</c:v>
                </c:pt>
                <c:pt idx="12">
                  <c:v>46546</c:v>
                </c:pt>
                <c:pt idx="13">
                  <c:v>55780</c:v>
                </c:pt>
                <c:pt idx="14">
                  <c:v>70019</c:v>
                </c:pt>
                <c:pt idx="15">
                  <c:v>55672</c:v>
                </c:pt>
                <c:pt idx="16">
                  <c:v>68174</c:v>
                </c:pt>
                <c:pt idx="17">
                  <c:v>82981</c:v>
                </c:pt>
                <c:pt idx="18">
                  <c:v>79982</c:v>
                </c:pt>
                <c:pt idx="19">
                  <c:v>75963</c:v>
                </c:pt>
                <c:pt idx="20">
                  <c:v>68404</c:v>
                </c:pt>
                <c:pt idx="21">
                  <c:v>56784</c:v>
                </c:pt>
                <c:pt idx="22">
                  <c:v>57879</c:v>
                </c:pt>
                <c:pt idx="23">
                  <c:v>58384</c:v>
                </c:pt>
                <c:pt idx="24">
                  <c:v>61559</c:v>
                </c:pt>
                <c:pt idx="25">
                  <c:v>65115</c:v>
                </c:pt>
                <c:pt idx="26">
                  <c:v>54884</c:v>
                </c:pt>
                <c:pt idx="27">
                  <c:v>77934</c:v>
                </c:pt>
                <c:pt idx="28">
                  <c:v>88446</c:v>
                </c:pt>
                <c:pt idx="29">
                  <c:v>66788</c:v>
                </c:pt>
              </c:numCache>
            </c:numRef>
          </c:val>
          <c:smooth val="0"/>
        </c:ser>
        <c:ser>
          <c:idx val="1"/>
          <c:order val="1"/>
          <c:tx>
            <c:strRef>
              <c:f>Sheet1!$C$1</c:f>
              <c:strCache>
                <c:ptCount val="1"/>
                <c:pt idx="0">
                  <c:v>Importaciones</c:v>
                </c:pt>
              </c:strCache>
            </c:strRef>
          </c:tx>
          <c:spPr>
            <a:solidFill>
              <a:srgbClr val="5DA9E9"/>
            </a:solidFill>
            <a:ln w="31750" cap="flat">
              <a:solidFill>
                <a:srgbClr val="5DA9E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DA9E9"/>
              </a:solidFill>
              <a:ln w="9525" cap="flat">
                <a:solidFill>
                  <a:srgbClr val="5DA9E9"/>
                </a:solidFill>
                <a:prstDash val="solid"/>
                <a:round/>
              </a:ln>
              <a:effectLst/>
            </c:spPr>
          </c:marker>
          <c:cat>
            <c:multiLvlStrRef>
              <c:f>Sheet1!$A$2:$A$31</c:f>
              <c:multiLvlStrCache>
                <c:ptCount val="30"/>
                <c:lvl>
                  <c:pt idx="0">
                    <c:v>1994</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pt idx="27">
                    <c:v>2021</c:v>
                  </c:pt>
                  <c:pt idx="28">
                    <c:v>2022</c:v>
                  </c:pt>
                  <c:pt idx="29">
                    <c:v>2023</c:v>
                  </c:pt>
                </c:lvl>
              </c:multiLvlStrCache>
            </c:multiLvlStrRef>
          </c:cat>
          <c:val>
            <c:numRef>
              <c:f>Sheet1!$C$2:$C$31</c:f>
              <c:numCache>
                <c:formatCode>General</c:formatCode>
                <c:ptCount val="30"/>
                <c:pt idx="0">
                  <c:v>21581</c:v>
                </c:pt>
                <c:pt idx="1">
                  <c:v>20122</c:v>
                </c:pt>
                <c:pt idx="2">
                  <c:v>23762</c:v>
                </c:pt>
                <c:pt idx="3">
                  <c:v>30349</c:v>
                </c:pt>
                <c:pt idx="4">
                  <c:v>31377</c:v>
                </c:pt>
                <c:pt idx="5">
                  <c:v>25508</c:v>
                </c:pt>
                <c:pt idx="6">
                  <c:v>25280</c:v>
                </c:pt>
                <c:pt idx="7">
                  <c:v>20321</c:v>
                </c:pt>
                <c:pt idx="8">
                  <c:v>8990</c:v>
                </c:pt>
                <c:pt idx="9">
                  <c:v>13851</c:v>
                </c:pt>
                <c:pt idx="10">
                  <c:v>22445</c:v>
                </c:pt>
                <c:pt idx="11">
                  <c:v>28689</c:v>
                </c:pt>
                <c:pt idx="12">
                  <c:v>34154</c:v>
                </c:pt>
                <c:pt idx="13">
                  <c:v>44707</c:v>
                </c:pt>
                <c:pt idx="14">
                  <c:v>57462</c:v>
                </c:pt>
                <c:pt idx="15">
                  <c:v>38786</c:v>
                </c:pt>
                <c:pt idx="16">
                  <c:v>56792</c:v>
                </c:pt>
                <c:pt idx="17">
                  <c:v>73961</c:v>
                </c:pt>
                <c:pt idx="18">
                  <c:v>67974</c:v>
                </c:pt>
                <c:pt idx="19">
                  <c:v>74442</c:v>
                </c:pt>
                <c:pt idx="20">
                  <c:v>65736</c:v>
                </c:pt>
                <c:pt idx="21">
                  <c:v>60203</c:v>
                </c:pt>
                <c:pt idx="22">
                  <c:v>55911</c:v>
                </c:pt>
                <c:pt idx="23">
                  <c:v>66899</c:v>
                </c:pt>
                <c:pt idx="24">
                  <c:v>65441</c:v>
                </c:pt>
                <c:pt idx="25">
                  <c:v>49125</c:v>
                </c:pt>
                <c:pt idx="26">
                  <c:v>42356</c:v>
                </c:pt>
                <c:pt idx="27">
                  <c:v>63184</c:v>
                </c:pt>
                <c:pt idx="28">
                  <c:v>81523</c:v>
                </c:pt>
                <c:pt idx="29">
                  <c:v>73714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C8F"/>
                </a:solidFill>
                <a:latin typeface="+mn-lt"/>
              </a:defRPr>
            </a:pPr>
            <a:endParaRPr lang="en-US"/>
          </a:p>
        </c:txPr>
        <c:crossAx val="2094734552"/>
        <c:crosses val="autoZero"/>
        <c:auto val="1"/>
        <c:lblAlgn val="ctr"/>
        <c:noMultiLvlLbl val="1"/>
        <c:tickLblSkip val="5"/>
      </c:catAx>
      <c:valAx>
        <c:axId val="2094734552"/>
        <c:scaling>
          <c:orientation val="minMax"/>
        </c:scaling>
        <c:delete val="0"/>
        <c:axPos val="l"/>
        <c:majorGridlines>
          <c:spPr>
            <a:ln w="9525" cap="flat">
              <a:solidFill>
                <a:srgbClr val="E3E8EE"/>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6B7C8F"/>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E2A3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4304F"/>
                </a:solidFill>
                <a:latin typeface="+mn-lt"/>
              </a:defRPr>
            </a:pPr>
            <a:r>
              <a:rPr sz="1500" b="0" i="0" u="none" strike="noStrike">
                <a:solidFill>
                  <a:srgbClr val="14304F"/>
                </a:solidFill>
                <a:latin typeface="+mn-lt"/>
              </a:rPr>
              <a:t>Uruguay (millones de US$)</a:t>
            </a:r>
          </a:p>
        </c:rich>
      </c:tx>
      <c:layout/>
      <c:overlay val="0"/>
    </c:title>
    <c:autoTitleDeleted val="0"/>
    <c:plotArea>
      <c:layout/>
      <c:lineChart>
        <c:varyColors val="0"/>
        <c:ser>
          <c:idx val="0"/>
          <c:order val="0"/>
          <c:tx>
            <c:strRef>
              <c:f>Sheet1!$B$1</c:f>
              <c:strCache>
                <c:ptCount val="1"/>
                <c:pt idx="0">
                  <c:v>Exportaciones</c:v>
                </c:pt>
              </c:strCache>
            </c:strRef>
          </c:tx>
          <c:spPr>
            <a:solidFill>
              <a:srgbClr val="9AA5B1"/>
            </a:solidFill>
            <a:ln w="31750" cap="flat">
              <a:solidFill>
                <a:srgbClr val="9AA5B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AA5B1"/>
              </a:solidFill>
              <a:ln w="9525" cap="flat">
                <a:solidFill>
                  <a:srgbClr val="9AA5B1"/>
                </a:solidFill>
                <a:prstDash val="solid"/>
                <a:round/>
              </a:ln>
              <a:effectLst/>
            </c:spPr>
          </c:marker>
          <c:cat>
            <c:multiLvlStrRef>
              <c:f>Sheet1!$A$2:$A$31</c:f>
              <c:multiLvlStrCache>
                <c:ptCount val="30"/>
                <c:lvl>
                  <c:pt idx="0">
                    <c:v>1994</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pt idx="27">
                    <c:v>2021</c:v>
                  </c:pt>
                  <c:pt idx="28">
                    <c:v>2022</c:v>
                  </c:pt>
                  <c:pt idx="29">
                    <c:v>2023</c:v>
                  </c:pt>
                </c:lvl>
              </c:multiLvlStrCache>
            </c:multiLvlStrRef>
          </c:cat>
          <c:val>
            <c:numRef>
              <c:f>Sheet1!$B$2:$B$31</c:f>
              <c:numCache>
                <c:formatCode>General</c:formatCode>
                <c:ptCount val="30"/>
                <c:pt idx="0">
                  <c:v>1914</c:v>
                </c:pt>
                <c:pt idx="1">
                  <c:v>2106</c:v>
                </c:pt>
                <c:pt idx="2">
                  <c:v>2397</c:v>
                </c:pt>
                <c:pt idx="3">
                  <c:v>2730</c:v>
                </c:pt>
                <c:pt idx="4">
                  <c:v>2770</c:v>
                </c:pt>
                <c:pt idx="5">
                  <c:v>2237</c:v>
                </c:pt>
                <c:pt idx="6">
                  <c:v>2295</c:v>
                </c:pt>
                <c:pt idx="7">
                  <c:v>2058</c:v>
                </c:pt>
                <c:pt idx="8">
                  <c:v>1861</c:v>
                </c:pt>
                <c:pt idx="9">
                  <c:v>2208</c:v>
                </c:pt>
                <c:pt idx="10">
                  <c:v>2937</c:v>
                </c:pt>
                <c:pt idx="11">
                  <c:v>3422</c:v>
                </c:pt>
                <c:pt idx="12">
                  <c:v>3989</c:v>
                </c:pt>
                <c:pt idx="13">
                  <c:v>4518</c:v>
                </c:pt>
                <c:pt idx="14">
                  <c:v>5942</c:v>
                </c:pt>
                <c:pt idx="15">
                  <c:v>5405</c:v>
                </c:pt>
                <c:pt idx="16">
                  <c:v>6724</c:v>
                </c:pt>
                <c:pt idx="17">
                  <c:v>7912</c:v>
                </c:pt>
                <c:pt idx="18">
                  <c:v>8709</c:v>
                </c:pt>
                <c:pt idx="19">
                  <c:v>9066</c:v>
                </c:pt>
                <c:pt idx="20">
                  <c:v>9166</c:v>
                </c:pt>
                <c:pt idx="21">
                  <c:v>7670</c:v>
                </c:pt>
                <c:pt idx="22">
                  <c:v>6964</c:v>
                </c:pt>
                <c:pt idx="23">
                  <c:v>7889</c:v>
                </c:pt>
                <c:pt idx="24">
                  <c:v>7502</c:v>
                </c:pt>
                <c:pt idx="25">
                  <c:v>7680</c:v>
                </c:pt>
                <c:pt idx="26">
                  <c:v>6864</c:v>
                </c:pt>
                <c:pt idx="27">
                  <c:v>9535</c:v>
                </c:pt>
                <c:pt idx="28">
                  <c:v>11184</c:v>
                </c:pt>
                <c:pt idx="29">
                  <c:v>9193</c:v>
                </c:pt>
              </c:numCache>
            </c:numRef>
          </c:val>
          <c:smooth val="0"/>
        </c:ser>
        <c:ser>
          <c:idx val="1"/>
          <c:order val="1"/>
          <c:tx>
            <c:strRef>
              <c:f>Sheet1!$C$1</c:f>
              <c:strCache>
                <c:ptCount val="1"/>
                <c:pt idx="0">
                  <c:v>Importaciones</c:v>
                </c:pt>
              </c:strCache>
            </c:strRef>
          </c:tx>
          <c:spPr>
            <a:solidFill>
              <a:srgbClr val="5DA9E9"/>
            </a:solidFill>
            <a:ln w="31750" cap="flat">
              <a:solidFill>
                <a:srgbClr val="5DA9E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DA9E9"/>
              </a:solidFill>
              <a:ln w="9525" cap="flat">
                <a:solidFill>
                  <a:srgbClr val="5DA9E9"/>
                </a:solidFill>
                <a:prstDash val="solid"/>
                <a:round/>
              </a:ln>
              <a:effectLst/>
            </c:spPr>
          </c:marker>
          <c:cat>
            <c:multiLvlStrRef>
              <c:f>Sheet1!$A$2:$A$31</c:f>
              <c:multiLvlStrCache>
                <c:ptCount val="30"/>
                <c:lvl>
                  <c:pt idx="0">
                    <c:v>1994</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pt idx="27">
                    <c:v>2021</c:v>
                  </c:pt>
                  <c:pt idx="28">
                    <c:v>2022</c:v>
                  </c:pt>
                  <c:pt idx="29">
                    <c:v>2023</c:v>
                  </c:pt>
                </c:lvl>
              </c:multiLvlStrCache>
            </c:multiLvlStrRef>
          </c:cat>
          <c:val>
            <c:numRef>
              <c:f>Sheet1!$C$2:$C$31</c:f>
              <c:numCache>
                <c:formatCode>General</c:formatCode>
                <c:ptCount val="30"/>
                <c:pt idx="0">
                  <c:v>2707</c:v>
                </c:pt>
                <c:pt idx="1">
                  <c:v>2866</c:v>
                </c:pt>
                <c:pt idx="2">
                  <c:v>3322</c:v>
                </c:pt>
                <c:pt idx="3">
                  <c:v>3716</c:v>
                </c:pt>
                <c:pt idx="4">
                  <c:v>3808</c:v>
                </c:pt>
                <c:pt idx="5">
                  <c:v>3356</c:v>
                </c:pt>
                <c:pt idx="6">
                  <c:v>3466</c:v>
                </c:pt>
                <c:pt idx="7">
                  <c:v>3061</c:v>
                </c:pt>
                <c:pt idx="8">
                  <c:v>1967</c:v>
                </c:pt>
                <c:pt idx="9">
                  <c:v>2190</c:v>
                </c:pt>
                <c:pt idx="10">
                  <c:v>3119</c:v>
                </c:pt>
                <c:pt idx="11">
                  <c:v>3879</c:v>
                </c:pt>
                <c:pt idx="12">
                  <c:v>4806</c:v>
                </c:pt>
                <c:pt idx="13">
                  <c:v>5628</c:v>
                </c:pt>
                <c:pt idx="14">
                  <c:v>9069</c:v>
                </c:pt>
                <c:pt idx="15">
                  <c:v>6907</c:v>
                </c:pt>
                <c:pt idx="16">
                  <c:v>8622</c:v>
                </c:pt>
                <c:pt idx="17">
                  <c:v>10726</c:v>
                </c:pt>
                <c:pt idx="18">
                  <c:v>11652</c:v>
                </c:pt>
                <c:pt idx="19">
                  <c:v>11642</c:v>
                </c:pt>
                <c:pt idx="20">
                  <c:v>10762</c:v>
                </c:pt>
                <c:pt idx="21">
                  <c:v>9489</c:v>
                </c:pt>
                <c:pt idx="22">
                  <c:v>8137</c:v>
                </c:pt>
                <c:pt idx="23">
                  <c:v>8458</c:v>
                </c:pt>
                <c:pt idx="24">
                  <c:v>8893</c:v>
                </c:pt>
                <c:pt idx="25">
                  <c:v>8246</c:v>
                </c:pt>
                <c:pt idx="26">
                  <c:v>7564</c:v>
                </c:pt>
                <c:pt idx="27">
                  <c:v>10320</c:v>
                </c:pt>
                <c:pt idx="28">
                  <c:v>12974</c:v>
                </c:pt>
                <c:pt idx="29">
                  <c:v>12486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C8F"/>
                </a:solidFill>
                <a:latin typeface="+mn-lt"/>
              </a:defRPr>
            </a:pPr>
            <a:endParaRPr lang="en-US"/>
          </a:p>
        </c:txPr>
        <c:crossAx val="2094734552"/>
        <c:crosses val="autoZero"/>
        <c:auto val="1"/>
        <c:lblAlgn val="ctr"/>
        <c:noMultiLvlLbl val="1"/>
        <c:tickLblSkip val="5"/>
      </c:catAx>
      <c:valAx>
        <c:axId val="2094734552"/>
        <c:scaling>
          <c:orientation val="minMax"/>
        </c:scaling>
        <c:delete val="0"/>
        <c:axPos val="l"/>
        <c:majorGridlines>
          <c:spPr>
            <a:ln w="9525" cap="flat">
              <a:solidFill>
                <a:srgbClr val="E3E8EE"/>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6B7C8F"/>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E2A3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4304F"/>
                </a:solidFill>
                <a:latin typeface="+mn-lt"/>
              </a:defRPr>
            </a:pPr>
            <a:r>
              <a:rPr sz="1500" b="0" i="0" u="none" strike="noStrike">
                <a:solidFill>
                  <a:srgbClr val="14304F"/>
                </a:solidFill>
                <a:latin typeface="+mn-lt"/>
              </a:rPr>
              <a:t>Argentina: balanza comercial (millones de US$)</a:t>
            </a:r>
          </a:p>
        </c:rich>
      </c:tx>
      <c:layout/>
      <c:overlay val="0"/>
    </c:title>
    <c:autoTitleDeleted val="0"/>
    <c:plotArea>
      <c:layout/>
      <c:barChart>
        <c:barDir val="col"/>
        <c:grouping val="clustered"/>
        <c:varyColors val="0"/>
        <c:ser>
          <c:idx val="0"/>
          <c:order val="0"/>
          <c:tx>
            <c:strRef>
              <c:f>Sheet1!$B$1</c:f>
              <c:strCache>
                <c:ptCount val="1"/>
                <c:pt idx="0">
                  <c:v>Balanza</c:v>
                </c:pt>
              </c:strCache>
            </c:strRef>
          </c:tx>
          <c:spPr>
            <a:solidFill>
              <a:srgbClr val="3E8E5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C8553D"/>
              </a:solidFill>
              <a:effectLst/>
            </c:spPr>
          </c:dPt>
          <c:dPt>
            <c:idx val="1"/>
            <c:invertIfNegative val="0"/>
            <c:bubble3D val="0"/>
            <c:spPr>
              <a:solidFill>
                <a:srgbClr val="3E8E5E"/>
              </a:solidFill>
              <a:effectLst/>
            </c:spPr>
          </c:dPt>
          <c:dPt>
            <c:idx val="2"/>
            <c:invertIfNegative val="0"/>
            <c:bubble3D val="0"/>
            <c:spPr>
              <a:solidFill>
                <a:srgbClr val="3E8E5E"/>
              </a:solidFill>
              <a:effectLst/>
            </c:spPr>
          </c:dPt>
          <c:dPt>
            <c:idx val="3"/>
            <c:invertIfNegative val="0"/>
            <c:bubble3D val="0"/>
            <c:spPr>
              <a:solidFill>
                <a:srgbClr val="C8553D"/>
              </a:solidFill>
              <a:effectLst/>
            </c:spPr>
          </c:dPt>
          <c:dPt>
            <c:idx val="4"/>
            <c:invertIfNegative val="0"/>
            <c:bubble3D val="0"/>
            <c:spPr>
              <a:solidFill>
                <a:srgbClr val="C8553D"/>
              </a:solidFill>
              <a:effectLst/>
            </c:spPr>
          </c:dPt>
          <c:dPt>
            <c:idx val="5"/>
            <c:invertIfNegative val="0"/>
            <c:bubble3D val="0"/>
            <c:spPr>
              <a:solidFill>
                <a:srgbClr val="C8553D"/>
              </a:solidFill>
              <a:effectLst/>
            </c:spPr>
          </c:dPt>
          <c:dPt>
            <c:idx val="6"/>
            <c:invertIfNegative val="0"/>
            <c:bubble3D val="0"/>
            <c:spPr>
              <a:solidFill>
                <a:srgbClr val="3E8E5E"/>
              </a:solidFill>
              <a:effectLst/>
            </c:spPr>
          </c:dPt>
          <c:dPt>
            <c:idx val="7"/>
            <c:invertIfNegative val="0"/>
            <c:bubble3D val="0"/>
            <c:spPr>
              <a:solidFill>
                <a:srgbClr val="3E8E5E"/>
              </a:solidFill>
              <a:effectLst/>
            </c:spPr>
          </c:dPt>
          <c:dPt>
            <c:idx val="8"/>
            <c:invertIfNegative val="0"/>
            <c:bubble3D val="0"/>
            <c:spPr>
              <a:solidFill>
                <a:srgbClr val="3E8E5E"/>
              </a:solidFill>
              <a:effectLst/>
            </c:spPr>
          </c:dPt>
          <c:dPt>
            <c:idx val="9"/>
            <c:invertIfNegative val="0"/>
            <c:bubble3D val="0"/>
            <c:spPr>
              <a:solidFill>
                <a:srgbClr val="3E8E5E"/>
              </a:solidFill>
              <a:effectLst/>
            </c:spPr>
          </c:dPt>
          <c:dPt>
            <c:idx val="10"/>
            <c:invertIfNegative val="0"/>
            <c:bubble3D val="0"/>
            <c:spPr>
              <a:solidFill>
                <a:srgbClr val="3E8E5E"/>
              </a:solidFill>
              <a:effectLst/>
            </c:spPr>
          </c:dPt>
          <c:dPt>
            <c:idx val="11"/>
            <c:invertIfNegative val="0"/>
            <c:bubble3D val="0"/>
            <c:spPr>
              <a:solidFill>
                <a:srgbClr val="3E8E5E"/>
              </a:solidFill>
              <a:effectLst/>
            </c:spPr>
          </c:dPt>
          <c:dPt>
            <c:idx val="12"/>
            <c:invertIfNegative val="0"/>
            <c:bubble3D val="0"/>
            <c:spPr>
              <a:solidFill>
                <a:srgbClr val="3E8E5E"/>
              </a:solidFill>
              <a:effectLst/>
            </c:spPr>
          </c:dPt>
          <c:dPt>
            <c:idx val="13"/>
            <c:invertIfNegative val="0"/>
            <c:bubble3D val="0"/>
            <c:spPr>
              <a:solidFill>
                <a:srgbClr val="3E8E5E"/>
              </a:solidFill>
              <a:effectLst/>
            </c:spPr>
          </c:dPt>
          <c:dPt>
            <c:idx val="14"/>
            <c:invertIfNegative val="0"/>
            <c:bubble3D val="0"/>
            <c:spPr>
              <a:solidFill>
                <a:srgbClr val="3E8E5E"/>
              </a:solidFill>
              <a:effectLst/>
            </c:spPr>
          </c:dPt>
          <c:dPt>
            <c:idx val="15"/>
            <c:invertIfNegative val="0"/>
            <c:bubble3D val="0"/>
            <c:spPr>
              <a:solidFill>
                <a:srgbClr val="3E8E5E"/>
              </a:solidFill>
              <a:effectLst/>
            </c:spPr>
          </c:dPt>
          <c:dPt>
            <c:idx val="16"/>
            <c:invertIfNegative val="0"/>
            <c:bubble3D val="0"/>
            <c:spPr>
              <a:solidFill>
                <a:srgbClr val="3E8E5E"/>
              </a:solidFill>
              <a:effectLst/>
            </c:spPr>
          </c:dPt>
          <c:dPt>
            <c:idx val="17"/>
            <c:invertIfNegative val="0"/>
            <c:bubble3D val="0"/>
            <c:spPr>
              <a:solidFill>
                <a:srgbClr val="3E8E5E"/>
              </a:solidFill>
              <a:effectLst/>
            </c:spPr>
          </c:dPt>
          <c:dPt>
            <c:idx val="18"/>
            <c:invertIfNegative val="0"/>
            <c:bubble3D val="0"/>
            <c:spPr>
              <a:solidFill>
                <a:srgbClr val="3E8E5E"/>
              </a:solidFill>
              <a:effectLst/>
            </c:spPr>
          </c:dPt>
          <c:dPt>
            <c:idx val="19"/>
            <c:invertIfNegative val="0"/>
            <c:bubble3D val="0"/>
            <c:spPr>
              <a:solidFill>
                <a:srgbClr val="3E8E5E"/>
              </a:solidFill>
              <a:effectLst/>
            </c:spPr>
          </c:dPt>
          <c:dPt>
            <c:idx val="20"/>
            <c:invertIfNegative val="0"/>
            <c:bubble3D val="0"/>
            <c:spPr>
              <a:solidFill>
                <a:srgbClr val="3E8E5E"/>
              </a:solidFill>
              <a:effectLst/>
            </c:spPr>
          </c:dPt>
          <c:dPt>
            <c:idx val="21"/>
            <c:invertIfNegative val="0"/>
            <c:bubble3D val="0"/>
            <c:spPr>
              <a:solidFill>
                <a:srgbClr val="C8553D"/>
              </a:solidFill>
              <a:effectLst/>
            </c:spPr>
          </c:dPt>
          <c:dPt>
            <c:idx val="22"/>
            <c:invertIfNegative val="0"/>
            <c:bubble3D val="0"/>
            <c:spPr>
              <a:solidFill>
                <a:srgbClr val="3E8E5E"/>
              </a:solidFill>
              <a:effectLst/>
            </c:spPr>
          </c:dPt>
          <c:dPt>
            <c:idx val="23"/>
            <c:invertIfNegative val="0"/>
            <c:bubble3D val="0"/>
            <c:spPr>
              <a:solidFill>
                <a:srgbClr val="C8553D"/>
              </a:solidFill>
              <a:effectLst/>
            </c:spPr>
          </c:dPt>
          <c:dPt>
            <c:idx val="24"/>
            <c:invertIfNegative val="0"/>
            <c:bubble3D val="0"/>
            <c:spPr>
              <a:solidFill>
                <a:srgbClr val="C8553D"/>
              </a:solidFill>
              <a:effectLst/>
            </c:spPr>
          </c:dPt>
          <c:dPt>
            <c:idx val="25"/>
            <c:invertIfNegative val="0"/>
            <c:bubble3D val="0"/>
            <c:spPr>
              <a:solidFill>
                <a:srgbClr val="3E8E5E"/>
              </a:solidFill>
              <a:effectLst/>
            </c:spPr>
          </c:dPt>
          <c:dPt>
            <c:idx val="26"/>
            <c:invertIfNegative val="0"/>
            <c:bubble3D val="0"/>
            <c:spPr>
              <a:solidFill>
                <a:srgbClr val="3E8E5E"/>
              </a:solidFill>
              <a:effectLst/>
            </c:spPr>
          </c:dPt>
          <c:dPt>
            <c:idx val="27"/>
            <c:invertIfNegative val="0"/>
            <c:bubble3D val="0"/>
            <c:spPr>
              <a:solidFill>
                <a:srgbClr val="3E8E5E"/>
              </a:solidFill>
              <a:effectLst/>
            </c:spPr>
          </c:dPt>
          <c:dPt>
            <c:idx val="28"/>
            <c:invertIfNegative val="0"/>
            <c:bubble3D val="0"/>
            <c:spPr>
              <a:solidFill>
                <a:srgbClr val="3E8E5E"/>
              </a:solidFill>
              <a:effectLst/>
            </c:spPr>
          </c:dPt>
          <c:dPt>
            <c:idx val="29"/>
            <c:invertIfNegative val="0"/>
            <c:bubble3D val="0"/>
            <c:spPr>
              <a:solidFill>
                <a:srgbClr val="C8553D"/>
              </a:solidFill>
              <a:effectLst/>
            </c:spPr>
          </c:dPt>
          <c:cat>
            <c:multiLvlStrRef>
              <c:f>Sheet1!$A$2:$A$31</c:f>
              <c:multiLvlStrCache>
                <c:ptCount val="30"/>
                <c:lvl>
                  <c:pt idx="0">
                    <c:v>1994</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pt idx="27">
                    <c:v>2021</c:v>
                  </c:pt>
                  <c:pt idx="28">
                    <c:v>2022</c:v>
                  </c:pt>
                  <c:pt idx="29">
                    <c:v>2023</c:v>
                  </c:pt>
                </c:lvl>
              </c:multiLvlStrCache>
            </c:multiLvlStrRef>
          </c:cat>
          <c:val>
            <c:numRef>
              <c:f>Sheet1!$B$2:$B$31</c:f>
              <c:numCache>
                <c:formatCode>General</c:formatCode>
                <c:ptCount val="30"/>
                <c:pt idx="0">
                  <c:v>-5742</c:v>
                </c:pt>
                <c:pt idx="1">
                  <c:v>841</c:v>
                </c:pt>
                <c:pt idx="2">
                  <c:v>48</c:v>
                </c:pt>
                <c:pt idx="3">
                  <c:v>-3919</c:v>
                </c:pt>
                <c:pt idx="4">
                  <c:v>-4944</c:v>
                </c:pt>
                <c:pt idx="5">
                  <c:v>-2175</c:v>
                </c:pt>
                <c:pt idx="6">
                  <c:v>1061</c:v>
                </c:pt>
                <c:pt idx="7">
                  <c:v>6289</c:v>
                </c:pt>
                <c:pt idx="8">
                  <c:v>16720</c:v>
                </c:pt>
                <c:pt idx="9">
                  <c:v>16088</c:v>
                </c:pt>
                <c:pt idx="10">
                  <c:v>12130</c:v>
                </c:pt>
                <c:pt idx="11">
                  <c:v>11418</c:v>
                </c:pt>
                <c:pt idx="12">
                  <c:v>12393</c:v>
                </c:pt>
                <c:pt idx="13">
                  <c:v>11072</c:v>
                </c:pt>
                <c:pt idx="14">
                  <c:v>12557</c:v>
                </c:pt>
                <c:pt idx="15">
                  <c:v>16886</c:v>
                </c:pt>
                <c:pt idx="16">
                  <c:v>11382</c:v>
                </c:pt>
                <c:pt idx="17">
                  <c:v>9020</c:v>
                </c:pt>
                <c:pt idx="18">
                  <c:v>12008</c:v>
                </c:pt>
                <c:pt idx="19">
                  <c:v>1521</c:v>
                </c:pt>
                <c:pt idx="20">
                  <c:v>2668</c:v>
                </c:pt>
                <c:pt idx="21">
                  <c:v>-3419</c:v>
                </c:pt>
                <c:pt idx="22">
                  <c:v>1968</c:v>
                </c:pt>
                <c:pt idx="23">
                  <c:v>-8515</c:v>
                </c:pt>
                <c:pt idx="24">
                  <c:v>-3882</c:v>
                </c:pt>
                <c:pt idx="25">
                  <c:v>15990</c:v>
                </c:pt>
                <c:pt idx="26">
                  <c:v>12528</c:v>
                </c:pt>
                <c:pt idx="27">
                  <c:v>14751</c:v>
                </c:pt>
                <c:pt idx="28">
                  <c:v>6923</c:v>
                </c:pt>
                <c:pt idx="29">
                  <c:v>-6925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C8F"/>
                </a:solidFill>
                <a:latin typeface="+mn-lt"/>
              </a:defRPr>
            </a:pPr>
            <a:endParaRPr lang="en-US"/>
          </a:p>
        </c:txPr>
        <c:crossAx val="2094734552"/>
        <c:crosses val="autoZero"/>
        <c:auto val="1"/>
        <c:lblAlgn val="ctr"/>
        <c:noMultiLvlLbl val="1"/>
        <c:tickLblSkip val="5"/>
      </c:catAx>
      <c:valAx>
        <c:axId val="2094734552"/>
        <c:scaling>
          <c:orientation val="minMax"/>
        </c:scaling>
        <c:delete val="0"/>
        <c:axPos val="l"/>
        <c:majorGridlines>
          <c:spPr>
            <a:ln w="9525" cap="flat">
              <a:solidFill>
                <a:srgbClr val="E3E8EE"/>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6B7C8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4304F"/>
                </a:solidFill>
                <a:latin typeface="+mn-lt"/>
              </a:defRPr>
            </a:pPr>
            <a:r>
              <a:rPr sz="1500" b="0" i="0" u="none" strike="noStrike">
                <a:solidFill>
                  <a:srgbClr val="14304F"/>
                </a:solidFill>
                <a:latin typeface="+mn-lt"/>
              </a:rPr>
              <a:t>Uruguay: balanza comercial (millones de US$)</a:t>
            </a:r>
          </a:p>
        </c:rich>
      </c:tx>
      <c:layout/>
      <c:overlay val="0"/>
    </c:title>
    <c:autoTitleDeleted val="0"/>
    <c:plotArea>
      <c:layout/>
      <c:barChart>
        <c:barDir val="col"/>
        <c:grouping val="clustered"/>
        <c:varyColors val="0"/>
        <c:ser>
          <c:idx val="0"/>
          <c:order val="0"/>
          <c:tx>
            <c:strRef>
              <c:f>Sheet1!$B$1</c:f>
              <c:strCache>
                <c:ptCount val="1"/>
                <c:pt idx="0">
                  <c:v>Balanza</c:v>
                </c:pt>
              </c:strCache>
            </c:strRef>
          </c:tx>
          <c:spPr>
            <a:solidFill>
              <a:srgbClr val="3E8E5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C8553D"/>
              </a:solidFill>
              <a:effectLst/>
            </c:spPr>
          </c:dPt>
          <c:dPt>
            <c:idx val="1"/>
            <c:invertIfNegative val="0"/>
            <c:bubble3D val="0"/>
            <c:spPr>
              <a:solidFill>
                <a:srgbClr val="C8553D"/>
              </a:solidFill>
              <a:effectLst/>
            </c:spPr>
          </c:dPt>
          <c:dPt>
            <c:idx val="2"/>
            <c:invertIfNegative val="0"/>
            <c:bubble3D val="0"/>
            <c:spPr>
              <a:solidFill>
                <a:srgbClr val="C8553D"/>
              </a:solidFill>
              <a:effectLst/>
            </c:spPr>
          </c:dPt>
          <c:dPt>
            <c:idx val="3"/>
            <c:invertIfNegative val="0"/>
            <c:bubble3D val="0"/>
            <c:spPr>
              <a:solidFill>
                <a:srgbClr val="C8553D"/>
              </a:solidFill>
              <a:effectLst/>
            </c:spPr>
          </c:dPt>
          <c:dPt>
            <c:idx val="4"/>
            <c:invertIfNegative val="0"/>
            <c:bubble3D val="0"/>
            <c:spPr>
              <a:solidFill>
                <a:srgbClr val="C8553D"/>
              </a:solidFill>
              <a:effectLst/>
            </c:spPr>
          </c:dPt>
          <c:dPt>
            <c:idx val="5"/>
            <c:invertIfNegative val="0"/>
            <c:bubble3D val="0"/>
            <c:spPr>
              <a:solidFill>
                <a:srgbClr val="C8553D"/>
              </a:solidFill>
              <a:effectLst/>
            </c:spPr>
          </c:dPt>
          <c:dPt>
            <c:idx val="6"/>
            <c:invertIfNegative val="0"/>
            <c:bubble3D val="0"/>
            <c:spPr>
              <a:solidFill>
                <a:srgbClr val="C8553D"/>
              </a:solidFill>
              <a:effectLst/>
            </c:spPr>
          </c:dPt>
          <c:dPt>
            <c:idx val="7"/>
            <c:invertIfNegative val="0"/>
            <c:bubble3D val="0"/>
            <c:spPr>
              <a:solidFill>
                <a:srgbClr val="C8553D"/>
              </a:solidFill>
              <a:effectLst/>
            </c:spPr>
          </c:dPt>
          <c:dPt>
            <c:idx val="8"/>
            <c:invertIfNegative val="0"/>
            <c:bubble3D val="0"/>
            <c:spPr>
              <a:solidFill>
                <a:srgbClr val="C8553D"/>
              </a:solidFill>
              <a:effectLst/>
            </c:spPr>
          </c:dPt>
          <c:dPt>
            <c:idx val="9"/>
            <c:invertIfNegative val="0"/>
            <c:bubble3D val="0"/>
            <c:spPr>
              <a:solidFill>
                <a:srgbClr val="3E8E5E"/>
              </a:solidFill>
              <a:effectLst/>
            </c:spPr>
          </c:dPt>
          <c:dPt>
            <c:idx val="10"/>
            <c:invertIfNegative val="0"/>
            <c:bubble3D val="0"/>
            <c:spPr>
              <a:solidFill>
                <a:srgbClr val="C8553D"/>
              </a:solidFill>
              <a:effectLst/>
            </c:spPr>
          </c:dPt>
          <c:dPt>
            <c:idx val="11"/>
            <c:invertIfNegative val="0"/>
            <c:bubble3D val="0"/>
            <c:spPr>
              <a:solidFill>
                <a:srgbClr val="C8553D"/>
              </a:solidFill>
              <a:effectLst/>
            </c:spPr>
          </c:dPt>
          <c:dPt>
            <c:idx val="12"/>
            <c:invertIfNegative val="0"/>
            <c:bubble3D val="0"/>
            <c:spPr>
              <a:solidFill>
                <a:srgbClr val="C8553D"/>
              </a:solidFill>
              <a:effectLst/>
            </c:spPr>
          </c:dPt>
          <c:dPt>
            <c:idx val="13"/>
            <c:invertIfNegative val="0"/>
            <c:bubble3D val="0"/>
            <c:spPr>
              <a:solidFill>
                <a:srgbClr val="C8553D"/>
              </a:solidFill>
              <a:effectLst/>
            </c:spPr>
          </c:dPt>
          <c:dPt>
            <c:idx val="14"/>
            <c:invertIfNegative val="0"/>
            <c:bubble3D val="0"/>
            <c:spPr>
              <a:solidFill>
                <a:srgbClr val="C8553D"/>
              </a:solidFill>
              <a:effectLst/>
            </c:spPr>
          </c:dPt>
          <c:dPt>
            <c:idx val="15"/>
            <c:invertIfNegative val="0"/>
            <c:bubble3D val="0"/>
            <c:spPr>
              <a:solidFill>
                <a:srgbClr val="C8553D"/>
              </a:solidFill>
              <a:effectLst/>
            </c:spPr>
          </c:dPt>
          <c:dPt>
            <c:idx val="16"/>
            <c:invertIfNegative val="0"/>
            <c:bubble3D val="0"/>
            <c:spPr>
              <a:solidFill>
                <a:srgbClr val="C8553D"/>
              </a:solidFill>
              <a:effectLst/>
            </c:spPr>
          </c:dPt>
          <c:dPt>
            <c:idx val="17"/>
            <c:invertIfNegative val="0"/>
            <c:bubble3D val="0"/>
            <c:spPr>
              <a:solidFill>
                <a:srgbClr val="C8553D"/>
              </a:solidFill>
              <a:effectLst/>
            </c:spPr>
          </c:dPt>
          <c:dPt>
            <c:idx val="18"/>
            <c:invertIfNegative val="0"/>
            <c:bubble3D val="0"/>
            <c:spPr>
              <a:solidFill>
                <a:srgbClr val="C8553D"/>
              </a:solidFill>
              <a:effectLst/>
            </c:spPr>
          </c:dPt>
          <c:dPt>
            <c:idx val="19"/>
            <c:invertIfNegative val="0"/>
            <c:bubble3D val="0"/>
            <c:spPr>
              <a:solidFill>
                <a:srgbClr val="C8553D"/>
              </a:solidFill>
              <a:effectLst/>
            </c:spPr>
          </c:dPt>
          <c:dPt>
            <c:idx val="20"/>
            <c:invertIfNegative val="0"/>
            <c:bubble3D val="0"/>
            <c:spPr>
              <a:solidFill>
                <a:srgbClr val="C8553D"/>
              </a:solidFill>
              <a:effectLst/>
            </c:spPr>
          </c:dPt>
          <c:dPt>
            <c:idx val="21"/>
            <c:invertIfNegative val="0"/>
            <c:bubble3D val="0"/>
            <c:spPr>
              <a:solidFill>
                <a:srgbClr val="C8553D"/>
              </a:solidFill>
              <a:effectLst/>
            </c:spPr>
          </c:dPt>
          <c:dPt>
            <c:idx val="22"/>
            <c:invertIfNegative val="0"/>
            <c:bubble3D val="0"/>
            <c:spPr>
              <a:solidFill>
                <a:srgbClr val="C8553D"/>
              </a:solidFill>
              <a:effectLst/>
            </c:spPr>
          </c:dPt>
          <c:dPt>
            <c:idx val="23"/>
            <c:invertIfNegative val="0"/>
            <c:bubble3D val="0"/>
            <c:spPr>
              <a:solidFill>
                <a:srgbClr val="C8553D"/>
              </a:solidFill>
              <a:effectLst/>
            </c:spPr>
          </c:dPt>
          <c:dPt>
            <c:idx val="24"/>
            <c:invertIfNegative val="0"/>
            <c:bubble3D val="0"/>
            <c:spPr>
              <a:solidFill>
                <a:srgbClr val="C8553D"/>
              </a:solidFill>
              <a:effectLst/>
            </c:spPr>
          </c:dPt>
          <c:dPt>
            <c:idx val="25"/>
            <c:invertIfNegative val="0"/>
            <c:bubble3D val="0"/>
            <c:spPr>
              <a:solidFill>
                <a:srgbClr val="C8553D"/>
              </a:solidFill>
              <a:effectLst/>
            </c:spPr>
          </c:dPt>
          <c:dPt>
            <c:idx val="26"/>
            <c:invertIfNegative val="0"/>
            <c:bubble3D val="0"/>
            <c:spPr>
              <a:solidFill>
                <a:srgbClr val="C8553D"/>
              </a:solidFill>
              <a:effectLst/>
            </c:spPr>
          </c:dPt>
          <c:dPt>
            <c:idx val="27"/>
            <c:invertIfNegative val="0"/>
            <c:bubble3D val="0"/>
            <c:spPr>
              <a:solidFill>
                <a:srgbClr val="C8553D"/>
              </a:solidFill>
              <a:effectLst/>
            </c:spPr>
          </c:dPt>
          <c:dPt>
            <c:idx val="28"/>
            <c:invertIfNegative val="0"/>
            <c:bubble3D val="0"/>
            <c:spPr>
              <a:solidFill>
                <a:srgbClr val="C8553D"/>
              </a:solidFill>
              <a:effectLst/>
            </c:spPr>
          </c:dPt>
          <c:dPt>
            <c:idx val="29"/>
            <c:invertIfNegative val="0"/>
            <c:bubble3D val="0"/>
            <c:spPr>
              <a:solidFill>
                <a:srgbClr val="C8553D"/>
              </a:solidFill>
              <a:effectLst/>
            </c:spPr>
          </c:dPt>
          <c:cat>
            <c:multiLvlStrRef>
              <c:f>Sheet1!$A$2:$A$31</c:f>
              <c:multiLvlStrCache>
                <c:ptCount val="30"/>
                <c:lvl>
                  <c:pt idx="0">
                    <c:v>1994</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pt idx="27">
                    <c:v>2021</c:v>
                  </c:pt>
                  <c:pt idx="28">
                    <c:v>2022</c:v>
                  </c:pt>
                  <c:pt idx="29">
                    <c:v>2023</c:v>
                  </c:pt>
                </c:lvl>
              </c:multiLvlStrCache>
            </c:multiLvlStrRef>
          </c:cat>
          <c:val>
            <c:numRef>
              <c:f>Sheet1!$B$2:$B$31</c:f>
              <c:numCache>
                <c:formatCode>General</c:formatCode>
                <c:ptCount val="30"/>
                <c:pt idx="0">
                  <c:v>-793</c:v>
                </c:pt>
                <c:pt idx="1">
                  <c:v>-760</c:v>
                </c:pt>
                <c:pt idx="2">
                  <c:v>-925</c:v>
                </c:pt>
                <c:pt idx="3">
                  <c:v>-986</c:v>
                </c:pt>
                <c:pt idx="4">
                  <c:v>-1038</c:v>
                </c:pt>
                <c:pt idx="5">
                  <c:v>-1119</c:v>
                </c:pt>
                <c:pt idx="6">
                  <c:v>-1170</c:v>
                </c:pt>
                <c:pt idx="7">
                  <c:v>-1003</c:v>
                </c:pt>
                <c:pt idx="8">
                  <c:v>-106</c:v>
                </c:pt>
                <c:pt idx="9">
                  <c:v>18</c:v>
                </c:pt>
                <c:pt idx="10">
                  <c:v>-181</c:v>
                </c:pt>
                <c:pt idx="11">
                  <c:v>-457</c:v>
                </c:pt>
                <c:pt idx="12">
                  <c:v>-817</c:v>
                </c:pt>
                <c:pt idx="13">
                  <c:v>-1110</c:v>
                </c:pt>
                <c:pt idx="14">
                  <c:v>-3128</c:v>
                </c:pt>
                <c:pt idx="15">
                  <c:v>-1502</c:v>
                </c:pt>
                <c:pt idx="16">
                  <c:v>-1898</c:v>
                </c:pt>
                <c:pt idx="17">
                  <c:v>-2815</c:v>
                </c:pt>
                <c:pt idx="18">
                  <c:v>-2943</c:v>
                </c:pt>
                <c:pt idx="19">
                  <c:v>-2577</c:v>
                </c:pt>
                <c:pt idx="20">
                  <c:v>-1597</c:v>
                </c:pt>
                <c:pt idx="21">
                  <c:v>-1820</c:v>
                </c:pt>
                <c:pt idx="22">
                  <c:v>-1173</c:v>
                </c:pt>
                <c:pt idx="23">
                  <c:v>-568</c:v>
                </c:pt>
                <c:pt idx="24">
                  <c:v>-1391</c:v>
                </c:pt>
                <c:pt idx="25">
                  <c:v>-565</c:v>
                </c:pt>
                <c:pt idx="26">
                  <c:v>-700</c:v>
                </c:pt>
                <c:pt idx="27">
                  <c:v>-785</c:v>
                </c:pt>
                <c:pt idx="28">
                  <c:v>-1790</c:v>
                </c:pt>
                <c:pt idx="29">
                  <c:v>-3293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C8F"/>
                </a:solidFill>
                <a:latin typeface="+mn-lt"/>
              </a:defRPr>
            </a:pPr>
            <a:endParaRPr lang="en-US"/>
          </a:p>
        </c:txPr>
        <c:crossAx val="2094734552"/>
        <c:crosses val="autoZero"/>
        <c:auto val="1"/>
        <c:lblAlgn val="ctr"/>
        <c:noMultiLvlLbl val="1"/>
        <c:tickLblSkip val="5"/>
      </c:catAx>
      <c:valAx>
        <c:axId val="2094734552"/>
        <c:scaling>
          <c:orientation val="minMax"/>
        </c:scaling>
        <c:delete val="0"/>
        <c:axPos val="l"/>
        <c:majorGridlines>
          <c:spPr>
            <a:ln w="9525" cap="flat">
              <a:solidFill>
                <a:srgbClr val="E3E8EE"/>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6B7C8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4304F"/>
                </a:solidFill>
                <a:latin typeface="+mn-lt"/>
              </a:defRPr>
            </a:pPr>
            <a:r>
              <a:rPr sz="1500" b="0" i="0" u="none" strike="noStrike">
                <a:solidFill>
                  <a:srgbClr val="14304F"/>
                </a:solidFill>
                <a:latin typeface="+mn-lt"/>
              </a:rPr>
              <a:t>Argentina · % de las importaciones</a:t>
            </a:r>
          </a:p>
        </c:rich>
      </c:tx>
      <c:layout/>
      <c:overlay val="0"/>
    </c:title>
    <c:autoTitleDeleted val="0"/>
    <c:plotArea>
      <c:layout/>
      <c:lineChart>
        <c:varyColors val="0"/>
        <c:ser>
          <c:idx val="0"/>
          <c:order val="0"/>
          <c:tx>
            <c:strRef>
              <c:f>Sheet1!$B$1</c:f>
              <c:strCache>
                <c:ptCount val="1"/>
                <c:pt idx="0">
                  <c:v>Brasil</c:v>
                </c:pt>
              </c:strCache>
            </c:strRef>
          </c:tx>
          <c:spPr>
            <a:solidFill>
              <a:srgbClr val="9AA5B1"/>
            </a:solidFill>
            <a:ln w="31750" cap="flat">
              <a:solidFill>
                <a:srgbClr val="9AA5B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AA5B1"/>
              </a:solidFill>
              <a:ln w="9525" cap="flat">
                <a:solidFill>
                  <a:srgbClr val="9AA5B1"/>
                </a:solidFill>
                <a:prstDash val="solid"/>
                <a:round/>
              </a:ln>
              <a:effectLst/>
            </c:spPr>
          </c:marker>
          <c:cat>
            <c:multiLvlStrRef>
              <c:f>Sheet1!$A$2:$A$31</c:f>
              <c:multiLvlStrCache>
                <c:ptCount val="30"/>
                <c:lvl>
                  <c:pt idx="0">
                    <c:v>1994</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pt idx="27">
                    <c:v>2021</c:v>
                  </c:pt>
                  <c:pt idx="28">
                    <c:v>2022</c:v>
                  </c:pt>
                  <c:pt idx="29">
                    <c:v>2023</c:v>
                  </c:pt>
                </c:lvl>
              </c:multiLvlStrCache>
            </c:multiLvlStrRef>
          </c:cat>
          <c:val>
            <c:numRef>
              <c:f>Sheet1!$B$2:$B$31</c:f>
              <c:numCache>
                <c:formatCode>General</c:formatCode>
                <c:ptCount val="30"/>
                <c:pt idx="0">
                  <c:v>19.9</c:v>
                </c:pt>
                <c:pt idx="1">
                  <c:v>20.8</c:v>
                </c:pt>
                <c:pt idx="2">
                  <c:v>22.4</c:v>
                </c:pt>
                <c:pt idx="3">
                  <c:v>22.7</c:v>
                </c:pt>
                <c:pt idx="4">
                  <c:v>22.5</c:v>
                </c:pt>
                <c:pt idx="5">
                  <c:v>21.9</c:v>
                </c:pt>
                <c:pt idx="6">
                  <c:v>25.6</c:v>
                </c:pt>
                <c:pt idx="7">
                  <c:v>26</c:v>
                </c:pt>
                <c:pt idx="8">
                  <c:v>28</c:v>
                </c:pt>
                <c:pt idx="9">
                  <c:v>33.9</c:v>
                </c:pt>
                <c:pt idx="10">
                  <c:v>33.7</c:v>
                </c:pt>
                <c:pt idx="11">
                  <c:v>37</c:v>
                </c:pt>
                <c:pt idx="12">
                  <c:v>34.8</c:v>
                </c:pt>
                <c:pt idx="13">
                  <c:v>32.8</c:v>
                </c:pt>
                <c:pt idx="14">
                  <c:v>31.3</c:v>
                </c:pt>
                <c:pt idx="15">
                  <c:v>30.5</c:v>
                </c:pt>
                <c:pt idx="16">
                  <c:v>31.6</c:v>
                </c:pt>
                <c:pt idx="17">
                  <c:v>30</c:v>
                </c:pt>
                <c:pt idx="18">
                  <c:v>26</c:v>
                </c:pt>
                <c:pt idx="19">
                  <c:v>25.7</c:v>
                </c:pt>
                <c:pt idx="20">
                  <c:v>21.8</c:v>
                </c:pt>
                <c:pt idx="21">
                  <c:v>21.7</c:v>
                </c:pt>
                <c:pt idx="22">
                  <c:v>24.3</c:v>
                </c:pt>
                <c:pt idx="23">
                  <c:v>26.7</c:v>
                </c:pt>
                <c:pt idx="24">
                  <c:v>23.8</c:v>
                </c:pt>
                <c:pt idx="25">
                  <c:v>20.5</c:v>
                </c:pt>
                <c:pt idx="26">
                  <c:v>20.4</c:v>
                </c:pt>
                <c:pt idx="27">
                  <c:v>19.6</c:v>
                </c:pt>
                <c:pt idx="28">
                  <c:v>19.6</c:v>
                </c:pt>
                <c:pt idx="29">
                  <c:v>23.5</c:v>
                </c:pt>
              </c:numCache>
            </c:numRef>
          </c:val>
          <c:smooth val="0"/>
        </c:ser>
        <c:ser>
          <c:idx val="1"/>
          <c:order val="1"/>
          <c:tx>
            <c:strRef>
              <c:f>Sheet1!$C$1</c:f>
              <c:strCache>
                <c:ptCount val="1"/>
                <c:pt idx="0">
                  <c:v>China</c:v>
                </c:pt>
              </c:strCache>
            </c:strRef>
          </c:tx>
          <c:spPr>
            <a:solidFill>
              <a:srgbClr val="E8A317"/>
            </a:solidFill>
            <a:ln w="31750" cap="flat">
              <a:solidFill>
                <a:srgbClr val="E8A31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8A317"/>
              </a:solidFill>
              <a:ln w="9525" cap="flat">
                <a:solidFill>
                  <a:srgbClr val="E8A317"/>
                </a:solidFill>
                <a:prstDash val="solid"/>
                <a:round/>
              </a:ln>
              <a:effectLst/>
            </c:spPr>
          </c:marker>
          <c:cat>
            <c:multiLvlStrRef>
              <c:f>Sheet1!$A$2:$A$31</c:f>
              <c:multiLvlStrCache>
                <c:ptCount val="30"/>
                <c:lvl>
                  <c:pt idx="0">
                    <c:v>1994</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pt idx="27">
                    <c:v>2021</c:v>
                  </c:pt>
                  <c:pt idx="28">
                    <c:v>2022</c:v>
                  </c:pt>
                  <c:pt idx="29">
                    <c:v>2023</c:v>
                  </c:pt>
                </c:lvl>
              </c:multiLvlStrCache>
            </c:multiLvlStrRef>
          </c:cat>
          <c:val>
            <c:numRef>
              <c:f>Sheet1!$C$2:$C$31</c:f>
              <c:numCache>
                <c:formatCode>General</c:formatCode>
                <c:ptCount val="30"/>
                <c:pt idx="0">
                  <c:v>1</c:v>
                </c:pt>
                <c:pt idx="1">
                  <c:v>3</c:v>
                </c:pt>
                <c:pt idx="2">
                  <c:v>2.9</c:v>
                </c:pt>
                <c:pt idx="3">
                  <c:v>3.3</c:v>
                </c:pt>
                <c:pt idx="4">
                  <c:v>3.7</c:v>
                </c:pt>
                <c:pt idx="5">
                  <c:v>3.9</c:v>
                </c:pt>
                <c:pt idx="6">
                  <c:v>4.6</c:v>
                </c:pt>
                <c:pt idx="7">
                  <c:v>5.2</c:v>
                </c:pt>
                <c:pt idx="8">
                  <c:v>3.7</c:v>
                </c:pt>
                <c:pt idx="9">
                  <c:v>5.2</c:v>
                </c:pt>
                <c:pt idx="10">
                  <c:v>6.2</c:v>
                </c:pt>
                <c:pt idx="11">
                  <c:v>5.3</c:v>
                </c:pt>
                <c:pt idx="12">
                  <c:v>9.1</c:v>
                </c:pt>
                <c:pt idx="13">
                  <c:v>11.4</c:v>
                </c:pt>
                <c:pt idx="14">
                  <c:v>12.4</c:v>
                </c:pt>
                <c:pt idx="15">
                  <c:v>12.4</c:v>
                </c:pt>
                <c:pt idx="16">
                  <c:v>13.5</c:v>
                </c:pt>
                <c:pt idx="17">
                  <c:v>14.3</c:v>
                </c:pt>
                <c:pt idx="18">
                  <c:v>14.6</c:v>
                </c:pt>
                <c:pt idx="19">
                  <c:v>15.2</c:v>
                </c:pt>
                <c:pt idx="20">
                  <c:v>16.4</c:v>
                </c:pt>
                <c:pt idx="21">
                  <c:v>19.6</c:v>
                </c:pt>
                <c:pt idx="22">
                  <c:v>18.7</c:v>
                </c:pt>
                <c:pt idx="23">
                  <c:v>18.4</c:v>
                </c:pt>
                <c:pt idx="24">
                  <c:v>18.4</c:v>
                </c:pt>
                <c:pt idx="25">
                  <c:v>18.8</c:v>
                </c:pt>
                <c:pt idx="26">
                  <c:v>20.4</c:v>
                </c:pt>
                <c:pt idx="27">
                  <c:v>21.4</c:v>
                </c:pt>
                <c:pt idx="28">
                  <c:v>21.5</c:v>
                </c:pt>
                <c:pt idx="29">
                  <c:v>19.6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C8F"/>
                </a:solidFill>
                <a:latin typeface="+mn-lt"/>
              </a:defRPr>
            </a:pPr>
            <a:endParaRPr lang="en-US"/>
          </a:p>
        </c:txPr>
        <c:crossAx val="2094734552"/>
        <c:crosses val="autoZero"/>
        <c:auto val="1"/>
        <c:lblAlgn val="ctr"/>
        <c:noMultiLvlLbl val="1"/>
        <c:tickLblSkip val="5"/>
      </c:catAx>
      <c:valAx>
        <c:axId val="2094734552"/>
        <c:scaling>
          <c:orientation val="minMax"/>
          <c:max val="40"/>
          <c:min val="0"/>
        </c:scaling>
        <c:delete val="0"/>
        <c:axPos val="l"/>
        <c:majorGridlines>
          <c:spPr>
            <a:ln w="9525" cap="flat">
              <a:solidFill>
                <a:srgbClr val="E3E8EE"/>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100" b="0" i="0" u="none" strike="noStrike">
                <a:solidFill>
                  <a:srgbClr val="6B7C8F"/>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E2A3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4304F"/>
                </a:solidFill>
                <a:latin typeface="+mn-lt"/>
              </a:defRPr>
            </a:pPr>
            <a:r>
              <a:rPr sz="1500" b="0" i="0" u="none" strike="noStrike">
                <a:solidFill>
                  <a:srgbClr val="14304F"/>
                </a:solidFill>
                <a:latin typeface="+mn-lt"/>
              </a:rPr>
              <a:t>Uruguay · % de las exportaciones</a:t>
            </a:r>
          </a:p>
        </c:rich>
      </c:tx>
      <c:layout/>
      <c:overlay val="0"/>
    </c:title>
    <c:autoTitleDeleted val="0"/>
    <c:plotArea>
      <c:layout/>
      <c:lineChart>
        <c:varyColors val="0"/>
        <c:ser>
          <c:idx val="0"/>
          <c:order val="0"/>
          <c:tx>
            <c:strRef>
              <c:f>Sheet1!$B$1</c:f>
              <c:strCache>
                <c:ptCount val="1"/>
                <c:pt idx="0">
                  <c:v>Brasil</c:v>
                </c:pt>
              </c:strCache>
            </c:strRef>
          </c:tx>
          <c:spPr>
            <a:solidFill>
              <a:srgbClr val="9AA5B1"/>
            </a:solidFill>
            <a:ln w="31750" cap="flat">
              <a:solidFill>
                <a:srgbClr val="9AA5B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AA5B1"/>
              </a:solidFill>
              <a:ln w="9525" cap="flat">
                <a:solidFill>
                  <a:srgbClr val="9AA5B1"/>
                </a:solidFill>
                <a:prstDash val="solid"/>
                <a:round/>
              </a:ln>
              <a:effectLst/>
            </c:spPr>
          </c:marker>
          <c:cat>
            <c:multiLvlStrRef>
              <c:f>Sheet1!$A$2:$A$31</c:f>
              <c:multiLvlStrCache>
                <c:ptCount val="30"/>
                <c:lvl>
                  <c:pt idx="0">
                    <c:v>1994</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pt idx="27">
                    <c:v>2021</c:v>
                  </c:pt>
                  <c:pt idx="28">
                    <c:v>2022</c:v>
                  </c:pt>
                  <c:pt idx="29">
                    <c:v>2023</c:v>
                  </c:pt>
                </c:lvl>
              </c:multiLvlStrCache>
            </c:multiLvlStrRef>
          </c:cat>
          <c:val>
            <c:numRef>
              <c:f>Sheet1!$B$2:$B$31</c:f>
              <c:numCache>
                <c:formatCode>General</c:formatCode>
                <c:ptCount val="30"/>
                <c:pt idx="0">
                  <c:v>25.8</c:v>
                </c:pt>
                <c:pt idx="1">
                  <c:v>33.2</c:v>
                </c:pt>
                <c:pt idx="2">
                  <c:v>37.9</c:v>
                </c:pt>
                <c:pt idx="3">
                  <c:v>34.4</c:v>
                </c:pt>
                <c:pt idx="4">
                  <c:v>33.8</c:v>
                </c:pt>
                <c:pt idx="5">
                  <c:v>24.9</c:v>
                </c:pt>
                <c:pt idx="6">
                  <c:v>23.1</c:v>
                </c:pt>
                <c:pt idx="7">
                  <c:v>21.4</c:v>
                </c:pt>
                <c:pt idx="8">
                  <c:v>23.2</c:v>
                </c:pt>
                <c:pt idx="9">
                  <c:v>21.3</c:v>
                </c:pt>
                <c:pt idx="10">
                  <c:v>16.5</c:v>
                </c:pt>
                <c:pt idx="11">
                  <c:v>13.5</c:v>
                </c:pt>
                <c:pt idx="12">
                  <c:v>14.6</c:v>
                </c:pt>
                <c:pt idx="13">
                  <c:v>16.2</c:v>
                </c:pt>
                <c:pt idx="14">
                  <c:v>16.6</c:v>
                </c:pt>
                <c:pt idx="15">
                  <c:v>20.3</c:v>
                </c:pt>
                <c:pt idx="16">
                  <c:v>21.1</c:v>
                </c:pt>
                <c:pt idx="17">
                  <c:v>20.5</c:v>
                </c:pt>
                <c:pt idx="18">
                  <c:v>19.4</c:v>
                </c:pt>
                <c:pt idx="19">
                  <c:v>18.9</c:v>
                </c:pt>
                <c:pt idx="20">
                  <c:v>17.6</c:v>
                </c:pt>
                <c:pt idx="21">
                  <c:v>14.8</c:v>
                </c:pt>
                <c:pt idx="22">
                  <c:v>17.2</c:v>
                </c:pt>
                <c:pt idx="23">
                  <c:v>16.5</c:v>
                </c:pt>
                <c:pt idx="24">
                  <c:v>15.1</c:v>
                </c:pt>
                <c:pt idx="25">
                  <c:v>14</c:v>
                </c:pt>
                <c:pt idx="26">
                  <c:v>15.4</c:v>
                </c:pt>
                <c:pt idx="27">
                  <c:v>18.3</c:v>
                </c:pt>
                <c:pt idx="28">
                  <c:v>15</c:v>
                </c:pt>
                <c:pt idx="29">
                  <c:v>20.5</c:v>
                </c:pt>
              </c:numCache>
            </c:numRef>
          </c:val>
          <c:smooth val="0"/>
        </c:ser>
        <c:ser>
          <c:idx val="1"/>
          <c:order val="1"/>
          <c:tx>
            <c:strRef>
              <c:f>Sheet1!$C$1</c:f>
              <c:strCache>
                <c:ptCount val="1"/>
                <c:pt idx="0">
                  <c:v>China</c:v>
                </c:pt>
              </c:strCache>
            </c:strRef>
          </c:tx>
          <c:spPr>
            <a:solidFill>
              <a:srgbClr val="E8A317"/>
            </a:solidFill>
            <a:ln w="31750" cap="flat">
              <a:solidFill>
                <a:srgbClr val="E8A31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8A317"/>
              </a:solidFill>
              <a:ln w="9525" cap="flat">
                <a:solidFill>
                  <a:srgbClr val="E8A317"/>
                </a:solidFill>
                <a:prstDash val="solid"/>
                <a:round/>
              </a:ln>
              <a:effectLst/>
            </c:spPr>
          </c:marker>
          <c:cat>
            <c:multiLvlStrRef>
              <c:f>Sheet1!$A$2:$A$31</c:f>
              <c:multiLvlStrCache>
                <c:ptCount val="30"/>
                <c:lvl>
                  <c:pt idx="0">
                    <c:v>1994</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pt idx="27">
                    <c:v>2021</c:v>
                  </c:pt>
                  <c:pt idx="28">
                    <c:v>2022</c:v>
                  </c:pt>
                  <c:pt idx="29">
                    <c:v>2023</c:v>
                  </c:pt>
                </c:lvl>
              </c:multiLvlStrCache>
            </c:multiLvlStrRef>
          </c:cat>
          <c:val>
            <c:numRef>
              <c:f>Sheet1!$C$2:$C$31</c:f>
              <c:numCache>
                <c:formatCode>General</c:formatCode>
                <c:ptCount val="30"/>
                <c:pt idx="0">
                  <c:v>6</c:v>
                </c:pt>
                <c:pt idx="1">
                  <c:v>5.9</c:v>
                </c:pt>
                <c:pt idx="2">
                  <c:v>4.8</c:v>
                </c:pt>
                <c:pt idx="3">
                  <c:v>4.5</c:v>
                </c:pt>
                <c:pt idx="4">
                  <c:v>2.8</c:v>
                </c:pt>
                <c:pt idx="5">
                  <c:v>2.8</c:v>
                </c:pt>
                <c:pt idx="6">
                  <c:v>4</c:v>
                </c:pt>
                <c:pt idx="7">
                  <c:v>5</c:v>
                </c:pt>
                <c:pt idx="8">
                  <c:v>5.6</c:v>
                </c:pt>
                <c:pt idx="9">
                  <c:v>4.3</c:v>
                </c:pt>
                <c:pt idx="10">
                  <c:v>3.9</c:v>
                </c:pt>
                <c:pt idx="11">
                  <c:v>3.6</c:v>
                </c:pt>
                <c:pt idx="12">
                  <c:v>4.1</c:v>
                </c:pt>
                <c:pt idx="13">
                  <c:v>3.6</c:v>
                </c:pt>
                <c:pt idx="14">
                  <c:v>2.9</c:v>
                </c:pt>
                <c:pt idx="15">
                  <c:v>4.3</c:v>
                </c:pt>
                <c:pt idx="16">
                  <c:v>5.4</c:v>
                </c:pt>
                <c:pt idx="17">
                  <c:v>6.7</c:v>
                </c:pt>
                <c:pt idx="18">
                  <c:v>9.1</c:v>
                </c:pt>
                <c:pt idx="19">
                  <c:v>14.2</c:v>
                </c:pt>
                <c:pt idx="20">
                  <c:v>13.3</c:v>
                </c:pt>
                <c:pt idx="21">
                  <c:v>13.9</c:v>
                </c:pt>
                <c:pt idx="22">
                  <c:v>12.8</c:v>
                </c:pt>
                <c:pt idx="23">
                  <c:v>18.8</c:v>
                </c:pt>
                <c:pt idx="24">
                  <c:v>20</c:v>
                </c:pt>
                <c:pt idx="25">
                  <c:v>24.9</c:v>
                </c:pt>
                <c:pt idx="26">
                  <c:v>20.3</c:v>
                </c:pt>
                <c:pt idx="27">
                  <c:v>27.2</c:v>
                </c:pt>
                <c:pt idx="28">
                  <c:v>21.5</c:v>
                </c:pt>
                <c:pt idx="29">
                  <c:v>16.8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C8F"/>
                </a:solidFill>
                <a:latin typeface="+mn-lt"/>
              </a:defRPr>
            </a:pPr>
            <a:endParaRPr lang="en-US"/>
          </a:p>
        </c:txPr>
        <c:crossAx val="2094734552"/>
        <c:crosses val="autoZero"/>
        <c:auto val="1"/>
        <c:lblAlgn val="ctr"/>
        <c:noMultiLvlLbl val="1"/>
        <c:tickLblSkip val="5"/>
      </c:catAx>
      <c:valAx>
        <c:axId val="2094734552"/>
        <c:scaling>
          <c:orientation val="minMax"/>
          <c:max val="40"/>
          <c:min val="0"/>
        </c:scaling>
        <c:delete val="0"/>
        <c:axPos val="l"/>
        <c:majorGridlines>
          <c:spPr>
            <a:ln w="9525" cap="flat">
              <a:solidFill>
                <a:srgbClr val="E3E8EE"/>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100" b="0" i="0" u="none" strike="noStrike">
                <a:solidFill>
                  <a:srgbClr val="6B7C8F"/>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E2A3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4304F"/>
                </a:solidFill>
                <a:latin typeface="+mn-lt"/>
              </a:defRPr>
            </a:pPr>
            <a:r>
              <a:rPr sz="1500" b="0" i="0" u="none" strike="noStrike">
                <a:solidFill>
                  <a:srgbClr val="14304F"/>
                </a:solidFill>
                <a:latin typeface="+mn-lt"/>
              </a:rPr>
              <a:t>Índice de concentración HHI (1.500 = umbral de concentración moderada)</a:t>
            </a:r>
          </a:p>
        </c:rich>
      </c:tx>
      <c:layout/>
      <c:overlay val="0"/>
    </c:title>
    <c:autoTitleDeleted val="0"/>
    <c:plotArea>
      <c:layout/>
      <c:barChart>
        <c:barDir val="col"/>
        <c:grouping val="clustered"/>
        <c:varyColors val="0"/>
        <c:ser>
          <c:idx val="0"/>
          <c:order val="0"/>
          <c:tx>
            <c:strRef>
              <c:f>Sheet1!$B$1</c:f>
              <c:strCache>
                <c:ptCount val="1"/>
                <c:pt idx="0">
                  <c:v>1994</c:v>
                </c:pt>
              </c:strCache>
            </c:strRef>
          </c:tx>
          <c:spPr>
            <a:solidFill>
              <a:srgbClr val="9AA5B1"/>
            </a:solidFill>
            <a:effectLst/>
          </c:spPr>
          <c:invertIfNegative val="0"/>
          <c:dLbls>
            <c:numFmt formatCode="#,##0" sourceLinked="0"/>
            <c:txPr>
              <a:bodyPr/>
              <a:lstStyle/>
              <a:p>
                <a:pPr>
                  <a:defRPr b="0" i="0" strike="noStrike" sz="1100" u="none">
                    <a:solidFill>
                      <a:srgbClr val="1E2A36"/>
                    </a:solidFill>
                    <a:latin typeface="+mn-lt"/>
                  </a:defRPr>
                </a:pPr>
              </a:p>
            </c:txPr>
            <c:showLegendKey val="0"/>
            <c:showVal val="1"/>
            <c:showCatName val="0"/>
            <c:showSerName val="0"/>
            <c:showPercent val="0"/>
            <c:showBubbleSize val="0"/>
            <c:showLeaderLines val="0"/>
          </c:dLbls>
          <c:cat>
            <c:multiLvlStrRef>
              <c:f>Sheet1!$A$2:$A$5</c:f>
              <c:multiLvlStrCache>
                <c:ptCount val="4"/>
                <c:lvl>
                  <c:pt idx="0">
                    <c:v>Argentina · exportaciones</c:v>
                  </c:pt>
                  <c:pt idx="1">
                    <c:v>Argentina · importaciones</c:v>
                  </c:pt>
                  <c:pt idx="2">
                    <c:v>Uruguay · exportaciones</c:v>
                  </c:pt>
                  <c:pt idx="3">
                    <c:v>Uruguay · importaciones</c:v>
                  </c:pt>
                </c:lvl>
              </c:multiLvlStrCache>
            </c:multiLvlStrRef>
          </c:cat>
          <c:val>
            <c:numRef>
              <c:f>Sheet1!$B$2:$B$5</c:f>
              <c:numCache>
                <c:formatCode>General</c:formatCode>
                <c:ptCount val="4"/>
                <c:pt idx="0">
                  <c:v>858</c:v>
                </c:pt>
                <c:pt idx="1">
                  <c:v>1110</c:v>
                </c:pt>
                <c:pt idx="2">
                  <c:v>1253</c:v>
                </c:pt>
                <c:pt idx="3">
                  <c:v>1445</c:v>
                </c:pt>
              </c:numCache>
            </c:numRef>
          </c:val>
        </c:ser>
        <c:ser>
          <c:idx val="1"/>
          <c:order val="1"/>
          <c:tx>
            <c:strRef>
              <c:f>Sheet1!$C$1</c:f>
              <c:strCache>
                <c:ptCount val="1"/>
                <c:pt idx="0">
                  <c:v>2023</c:v>
                </c:pt>
              </c:strCache>
            </c:strRef>
          </c:tx>
          <c:spPr>
            <a:solidFill>
              <a:srgbClr val="5DA9E9"/>
            </a:solidFill>
            <a:effectLst/>
          </c:spPr>
          <c:invertIfNegative val="0"/>
          <c:dLbls>
            <c:numFmt formatCode="#,##0" sourceLinked="0"/>
            <c:txPr>
              <a:bodyPr/>
              <a:lstStyle/>
              <a:p>
                <a:pPr>
                  <a:defRPr b="0" i="0" strike="noStrike" sz="1100" u="none">
                    <a:solidFill>
                      <a:srgbClr val="1E2A36"/>
                    </a:solidFill>
                    <a:latin typeface="+mn-lt"/>
                  </a:defRPr>
                </a:pPr>
              </a:p>
            </c:txPr>
            <c:showLegendKey val="0"/>
            <c:showVal val="1"/>
            <c:showCatName val="0"/>
            <c:showSerName val="0"/>
            <c:showPercent val="0"/>
            <c:showBubbleSize val="0"/>
            <c:showLeaderLines val="0"/>
          </c:dLbls>
          <c:cat>
            <c:multiLvlStrRef>
              <c:f>Sheet1!$A$2:$A$5</c:f>
              <c:multiLvlStrCache>
                <c:ptCount val="4"/>
                <c:lvl>
                  <c:pt idx="0">
                    <c:v>Argentina · exportaciones</c:v>
                  </c:pt>
                  <c:pt idx="1">
                    <c:v>Argentina · importaciones</c:v>
                  </c:pt>
                  <c:pt idx="2">
                    <c:v>Uruguay · exportaciones</c:v>
                  </c:pt>
                  <c:pt idx="3">
                    <c:v>Uruguay · importaciones</c:v>
                  </c:pt>
                </c:lvl>
              </c:multiLvlStrCache>
            </c:multiLvlStrRef>
          </c:cat>
          <c:val>
            <c:numRef>
              <c:f>Sheet1!$C$2:$C$5</c:f>
              <c:numCache>
                <c:formatCode>General</c:formatCode>
                <c:ptCount val="4"/>
                <c:pt idx="0">
                  <c:v>595</c:v>
                </c:pt>
                <c:pt idx="1">
                  <c:v>1159</c:v>
                </c:pt>
                <c:pt idx="2">
                  <c:v>835</c:v>
                </c:pt>
                <c:pt idx="3">
                  <c:v>1127</c:v>
                </c:pt>
              </c:numCache>
            </c:numRef>
          </c:val>
        </c:ser>
        <c:dLbls>
          <c:numFmt formatCode="#,##0" sourceLinked="0"/>
          <c:txPr>
            <a:bodyPr/>
            <a:lstStyle/>
            <a:p>
              <a:pPr>
                <a:defRPr b="0" i="0" strike="noStrike" sz="1100" u="none">
                  <a:solidFill>
                    <a:srgbClr val="1E2A3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C8F"/>
                </a:solidFill>
                <a:latin typeface="+mn-lt"/>
              </a:defRPr>
            </a:pPr>
            <a:endParaRPr lang="en-US"/>
          </a:p>
        </c:txPr>
        <c:crossAx val="2094734552"/>
        <c:crosses val="autoZero"/>
        <c:auto val="1"/>
        <c:lblAlgn val="ctr"/>
        <c:noMultiLvlLbl val="1"/>
      </c:catAx>
      <c:valAx>
        <c:axId val="2094734552"/>
        <c:scaling>
          <c:orientation val="minMax"/>
          <c:max val="2000"/>
          <c:min val="0"/>
        </c:scaling>
        <c:delete val="0"/>
        <c:axPos val="l"/>
        <c:majorGridlines>
          <c:spPr>
            <a:ln w="9525" cap="flat">
              <a:solidFill>
                <a:srgbClr val="E3E8EE"/>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6B7C8F"/>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E2A3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4304F"/>
                </a:solidFill>
                <a:latin typeface="+mn-lt"/>
              </a:defRPr>
            </a:pPr>
            <a:r>
              <a:rPr sz="1500" b="0" i="0" u="none" strike="noStrike">
                <a:solidFill>
                  <a:srgbClr val="14304F"/>
                </a:solidFill>
                <a:latin typeface="+mn-lt"/>
              </a:rPr>
              <a:t>Comparación espejo: importación declarada vs. exportación declarada (%)</a:t>
            </a:r>
          </a:p>
        </c:rich>
      </c:tx>
      <c:layout/>
      <c:overlay val="0"/>
    </c:title>
    <c:autoTitleDeleted val="0"/>
    <c:plotArea>
      <c:layout/>
      <c:barChart>
        <c:barDir val="col"/>
        <c:grouping val="clustered"/>
        <c:varyColors val="0"/>
        <c:ser>
          <c:idx val="0"/>
          <c:order val="0"/>
          <c:tx>
            <c:strRef>
              <c:f>Sheet1!$B$1</c:f>
              <c:strCache>
                <c:ptCount val="1"/>
                <c:pt idx="0">
                  <c:v>Argentina → Uruguay</c:v>
                </c:pt>
              </c:strCache>
            </c:strRef>
          </c:tx>
          <c:spPr>
            <a:solidFill>
              <a:srgbClr val="5DA9E9"/>
            </a:solidFill>
            <a:effectLst/>
          </c:spPr>
          <c:invertIfNegative val="0"/>
          <c:dLbls>
            <c:numFmt formatCode="0.0" sourceLinked="0"/>
            <c:txPr>
              <a:bodyPr/>
              <a:lstStyle/>
              <a:p>
                <a:pPr>
                  <a:defRPr b="0" i="0" strike="noStrike" sz="1100" u="none">
                    <a:solidFill>
                      <a:srgbClr val="1E2A36"/>
                    </a:solidFill>
                    <a:latin typeface="+mn-lt"/>
                  </a:defRPr>
                </a:pPr>
              </a:p>
            </c:txPr>
            <c:showLegendKey val="0"/>
            <c:showVal val="1"/>
            <c:showCatName val="0"/>
            <c:showSerName val="0"/>
            <c:showPercent val="0"/>
            <c:showBubbleSize val="0"/>
            <c:showLeaderLines val="0"/>
          </c:dLbls>
          <c:cat>
            <c:multiLvlStrRef>
              <c:f>Sheet1!$A$2:$A$5</c:f>
              <c:multiLvlStrCache>
                <c:ptCount val="4"/>
                <c:lvl>
                  <c:pt idx="0">
                    <c:v>1990s</c:v>
                  </c:pt>
                  <c:pt idx="1">
                    <c:v>2000s</c:v>
                  </c:pt>
                  <c:pt idx="2">
                    <c:v>2010s</c:v>
                  </c:pt>
                  <c:pt idx="3">
                    <c:v>2020s</c:v>
                  </c:pt>
                </c:lvl>
              </c:multiLvlStrCache>
            </c:multiLvlStrRef>
          </c:cat>
          <c:val>
            <c:numRef>
              <c:f>Sheet1!$B$2:$B$5</c:f>
              <c:numCache>
                <c:formatCode>General</c:formatCode>
                <c:ptCount val="4"/>
                <c:pt idx="0">
                  <c:v>-4.9</c:v>
                </c:pt>
                <c:pt idx="1">
                  <c:v>1.8</c:v>
                </c:pt>
                <c:pt idx="2">
                  <c:v>-6.8</c:v>
                </c:pt>
                <c:pt idx="3">
                  <c:v>-5.4</c:v>
                </c:pt>
              </c:numCache>
            </c:numRef>
          </c:val>
        </c:ser>
        <c:ser>
          <c:idx val="1"/>
          <c:order val="1"/>
          <c:tx>
            <c:strRef>
              <c:f>Sheet1!$C$1</c:f>
              <c:strCache>
                <c:ptCount val="1"/>
                <c:pt idx="0">
                  <c:v>Uruguay → Argentina</c:v>
                </c:pt>
              </c:strCache>
            </c:strRef>
          </c:tx>
          <c:spPr>
            <a:solidFill>
              <a:srgbClr val="14304F"/>
            </a:solidFill>
            <a:effectLst/>
          </c:spPr>
          <c:invertIfNegative val="0"/>
          <c:dLbls>
            <c:numFmt formatCode="0.0" sourceLinked="0"/>
            <c:txPr>
              <a:bodyPr/>
              <a:lstStyle/>
              <a:p>
                <a:pPr>
                  <a:defRPr b="0" i="0" strike="noStrike" sz="1100" u="none">
                    <a:solidFill>
                      <a:srgbClr val="1E2A36"/>
                    </a:solidFill>
                    <a:latin typeface="+mn-lt"/>
                  </a:defRPr>
                </a:pPr>
              </a:p>
            </c:txPr>
            <c:showLegendKey val="0"/>
            <c:showVal val="1"/>
            <c:showCatName val="0"/>
            <c:showSerName val="0"/>
            <c:showPercent val="0"/>
            <c:showBubbleSize val="0"/>
            <c:showLeaderLines val="0"/>
          </c:dLbls>
          <c:cat>
            <c:multiLvlStrRef>
              <c:f>Sheet1!$A$2:$A$5</c:f>
              <c:multiLvlStrCache>
                <c:ptCount val="4"/>
                <c:lvl>
                  <c:pt idx="0">
                    <c:v>1990s</c:v>
                  </c:pt>
                  <c:pt idx="1">
                    <c:v>2000s</c:v>
                  </c:pt>
                  <c:pt idx="2">
                    <c:v>2010s</c:v>
                  </c:pt>
                  <c:pt idx="3">
                    <c:v>2020s</c:v>
                  </c:pt>
                </c:lvl>
              </c:multiLvlStrCache>
            </c:multiLvlStrRef>
          </c:cat>
          <c:val>
            <c:numRef>
              <c:f>Sheet1!$C$2:$C$5</c:f>
              <c:numCache>
                <c:formatCode>General</c:formatCode>
                <c:ptCount val="4"/>
                <c:pt idx="0">
                  <c:v>23.6</c:v>
                </c:pt>
                <c:pt idx="1">
                  <c:v>14.6</c:v>
                </c:pt>
                <c:pt idx="2">
                  <c:v>10</c:v>
                </c:pt>
                <c:pt idx="3">
                  <c:v>23.4</c:v>
                </c:pt>
              </c:numCache>
            </c:numRef>
          </c:val>
        </c:ser>
        <c:dLbls>
          <c:numFmt formatCode="0.0" sourceLinked="0"/>
          <c:txPr>
            <a:bodyPr/>
            <a:lstStyle/>
            <a:p>
              <a:pPr>
                <a:defRPr b="0" i="0" strike="noStrike" sz="1100" u="none">
                  <a:solidFill>
                    <a:srgbClr val="1E2A3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C8F"/>
                </a:solidFill>
                <a:latin typeface="+mn-lt"/>
              </a:defRPr>
            </a:pPr>
            <a:endParaRPr lang="en-US"/>
          </a:p>
        </c:txPr>
        <c:crossAx val="2094734552"/>
        <c:crosses val="autoZero"/>
        <c:auto val="1"/>
        <c:lblAlgn val="ctr"/>
        <c:noMultiLvlLbl val="1"/>
      </c:catAx>
      <c:valAx>
        <c:axId val="2094734552"/>
        <c:scaling>
          <c:orientation val="minMax"/>
          <c:max val="30"/>
          <c:min val="-10"/>
        </c:scaling>
        <c:delete val="0"/>
        <c:axPos val="l"/>
        <c:majorGridlines>
          <c:spPr>
            <a:ln w="9525" cap="flat">
              <a:solidFill>
                <a:srgbClr val="E3E8EE"/>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6B7C8F"/>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E2A36"/>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equipo y del tema. Argentina y Uruguay son economías abiertas: lo que pasa en el mundo les llega a través del comercio. La pregunta que guía el proyecto es qué tan vulnerables son ante las crisis y ante la dependencia de pocos socios.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Planteamos el problema: estas economías dependen del comercio exterior y no controlan lo que pasa afuera. Mencionar las tres crisis del período y el cambio en los socios comerciales. Leer la pregunta central.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cinco preguntas ordenan todo el análisis. Cada una tiene una consulta SQL que la responde y un visual en el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Contar de dónde salen los datos y su volumen. Remarcar que los datos no venían listos para usar: hubo que limpiarlos y modelarlos. Los detalles técnicos están en el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el rol de cada herramienta sin entrar en código: Python limpia, MySQL guarda y responde las preguntas, Power BI comunica. Destacar que el proceso se puede repetir y actualizar.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Señalar las caídas en las líneas celestes en 2002, 2009 y 2020. Las exportaciones se mantienen; las importaciones se desploman porque caen el consumo y la inversión y se encarece el dólar. También se recuperan rápido: +54 % en Argentina en 2003.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Verde es superávit y rojo, déficit. Argentina suele exportar más de lo que importa; Uruguay, al revés. Un superávit no siempre es buena noticia: en 2002 y 2009 se explica por el derrumbe de las importaciones.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cambio más grande del período: China pasó de ser un socio marginal a disputar el primer lugar. Mostrar el cruce de las líneas. En 2023 Brasil volvió a ser primero, así que la disputa sigue abierta.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índice HHI mide cuánto depende un país de pocos socios. Ningún flujo supera hoy 1.200, así que la dependencia de un único socio es baja. La vulnerabilidad viene más de las crisis que de la concentración.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hallazgos. Primero, la relación es asimétrica y Uruguay diversificó lejos de Argentina. Segundo, la comparación espejo: lo que declara un país no coincide con lo que declara el otro, y la diferencia sale del rango esperable en los dos sentidos. Es un hallazgo original del proyecto; la explicación de las zonas francas es una hipótesis, no una conclusión.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dashboard en vivo o con la captura. Hacer una demostración: cambiar el año a 2021 y ver cómo China pasa al primer lugar en las importaciones argentinas.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Responder la pregunta central: la vulnerabilidad de estos países está en los shocks, más que en depender de un solo socio. Repasar las cuatro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recomendación sale de un hallazgo: la alerta temprana de las crisis, la diversificación de la concentración, la conciliación de la comparación espejo, y la ampliación de los límites del análisis 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y agradecimiento.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10698480" cy="1280160"/>
          </a:xfrm>
          <a:prstGeom prst="rect">
            <a:avLst/>
          </a:prstGeom>
          <a:noFill/>
          <a:ln/>
        </p:spPr>
        <p:txBody>
          <a:bodyPr wrap="square" rtlCol="0"/>
          <a:lstStyle>
            <a:lvl1pPr algn="l" indent="0" marL="0">
              <a:buNone/>
              <a:defRPr lang="en-US" sz="2000" dirty="0">
                <a:solidFill>
                  <a:schemeClr val="accent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Comercio exterior de Argentina y Uruguay · 1994–2023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SCURO">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400" b="1" dirty="0">
                <a:solidFill>
                  <a:schemeClr val="bg1"/>
                </a:solidFill>
              </a:rPr>
              <a:t>¿Qué tan vulnerables son Argentina y Uruguay al mundo?</a:t>
            </a:r>
            <a:endParaRPr lang="en-US" sz="4400" dirty="0"/>
          </a:p>
        </p:txBody>
      </p:sp>
      <p:sp>
        <p:nvSpPr>
          <p:cNvPr id="3" name="Text 0"/>
          <p:cNvSpPr/>
          <p:nvPr>
            <p:ph idx="101" type="body" hasCustomPrompt="1"/>
          </p:nvPr>
        </p:nvSpPr>
        <p:spPr>
          <a:xfrm>
            <a:off x="731520" y="3657600"/>
            <a:ext cx="10698480" cy="1280160"/>
          </a:xfrm>
          <a:prstGeom prst="rect">
            <a:avLst/>
          </a:prstGeom>
          <a:noFill/>
          <a:ln/>
        </p:spPr>
        <p:txBody>
          <a:bodyPr wrap="square" lIns="0" tIns="0" rIns="0" bIns="0" rtlCol="0" anchor="t"/>
          <a:lstStyle/>
          <a:p>
            <a:pPr algn="l" indent="0" marL="0">
              <a:buNone/>
            </a:pPr>
            <a:r>
              <a:rPr lang="en-US" sz="2000" dirty="0">
                <a:solidFill>
                  <a:schemeClr val="accent1"/>
                </a:solidFill>
              </a:rPr>
              <a:t>30 años de comercio exterior (1994–2023) analizados con Python, MySQL y Power BI</a:t>
            </a:r>
            <a:endParaRPr lang="en-US" sz="2000" dirty="0"/>
          </a:p>
        </p:txBody>
      </p:sp>
      <p:sp>
        <p:nvSpPr>
          <p:cNvPr id="4" name="Integrantes"/>
          <p:cNvSpPr txBox="1"/>
          <p:nvPr/>
        </p:nvSpPr>
        <p:spPr>
          <a:xfrm>
            <a:off x="731520" y="5943600"/>
            <a:ext cx="10698480" cy="365760"/>
          </a:xfrm>
          <a:prstGeom prst="rect">
            <a:avLst/>
          </a:prstGeom>
          <a:noFill/>
          <a:ln/>
        </p:spPr>
        <p:txBody>
          <a:bodyPr wrap="square" lIns="0" tIns="0" rIns="0" bIns="0" rtlCol="0" anchor="t"/>
          <a:lstStyle/>
          <a:p>
            <a:pPr indent="0" marL="0">
              <a:buNone/>
            </a:pPr>
            <a:r>
              <a:rPr lang="en-US" sz="1300" dirty="0">
                <a:solidFill>
                  <a:schemeClr val="bg2"/>
                </a:solidFill>
              </a:rPr>
              <a:t>Proyecto Integrador · Bootcamp de Análisis de Datos · Integrantes: [nombre 1], [nombre 2], [nombre 3]</a:t>
            </a:r>
            <a:endParaRPr lang="en-US" sz="1300" dirty="0"/>
          </a:p>
        </p:txBody>
      </p:sp>
      <p:sp>
        <p:nvSpPr>
          <p:cNvPr id="5" name="Sol"/>
          <p:cNvSpPr/>
          <p:nvPr/>
        </p:nvSpPr>
        <p:spPr>
          <a:xfrm>
            <a:off x="10332720" y="640080"/>
            <a:ext cx="1097280" cy="1097280"/>
          </a:xfrm>
          <a:prstGeom prst="ellipse">
            <a:avLst/>
          </a:prstGeom>
          <a:solidFill>
            <a:schemeClr val="accent2"/>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rPr>
              <a:t>Economías abiertas, expuestas a los shocks externos</a:t>
            </a:r>
            <a:endParaRPr lang="en-US" sz="3000" dirty="0"/>
          </a:p>
        </p:txBody>
      </p:sp>
      <p:sp>
        <p:nvSpPr>
          <p:cNvPr id="3" name="Text 1"/>
          <p:cNvSpPr txBox="1"/>
          <p:nvPr/>
        </p:nvSpPr>
        <p:spPr>
          <a:xfrm>
            <a:off x="548640" y="1417320"/>
            <a:ext cx="5120640" cy="1188720"/>
          </a:xfrm>
          <a:prstGeom prst="rect">
            <a:avLst/>
          </a:prstGeom>
          <a:noFill/>
          <a:ln/>
        </p:spPr>
        <p:txBody>
          <a:bodyPr wrap="square" lIns="0" tIns="0" rIns="0" bIns="0" rtlCol="0" anchor="t"/>
          <a:lstStyle/>
          <a:p>
            <a:pPr indent="0" marL="0">
              <a:buNone/>
            </a:pPr>
            <a:r>
              <a:rPr lang="en-US" sz="1800" dirty="0">
                <a:solidFill>
                  <a:schemeClr val="tx1"/>
                </a:solidFill>
              </a:rPr>
              <a:t>Cuando el mundo entra en crisis o un socio clave se debilita, el comercio exterior es el primer canal por el que llega el golpe.</a:t>
            </a:r>
            <a:endParaRPr lang="en-US" sz="1800" dirty="0"/>
          </a:p>
        </p:txBody>
      </p:sp>
      <p:sp>
        <p:nvSpPr>
          <p:cNvPr id="4" name="Text 2"/>
          <p:cNvSpPr txBox="1"/>
          <p:nvPr/>
        </p:nvSpPr>
        <p:spPr>
          <a:xfrm>
            <a:off x="548640" y="2743200"/>
            <a:ext cx="5120640" cy="20116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Crisis 2001–2002, crisis financiera de 2009 y pandemia de 2020</a:t>
            </a:r>
            <a:endParaRPr lang="en-US" sz="1600" dirty="0"/>
          </a:p>
          <a:p>
            <a:pPr marL="342900" indent="-342900">
              <a:spcAft>
                <a:spcPts val="1000"/>
              </a:spcAft>
              <a:buSzPct val="100000"/>
              <a:buChar char="•"/>
            </a:pPr>
            <a:r>
              <a:rPr lang="en-US" sz="1600" dirty="0">
                <a:solidFill>
                  <a:schemeClr val="tx1"/>
                </a:solidFill>
              </a:rPr>
              <a:t>Socios tradicionales (Brasil, EE. UU.) frente al ascenso de China</a:t>
            </a:r>
            <a:endParaRPr lang="en-US" sz="1600" dirty="0"/>
          </a:p>
          <a:p>
            <a:pPr marL="342900" indent="-342900">
              <a:spcAft>
                <a:spcPts val="1000"/>
              </a:spcAft>
              <a:buSzPct val="100000"/>
              <a:buChar char="•"/>
            </a:pPr>
            <a:r>
              <a:rPr lang="en-US" sz="1600" dirty="0">
                <a:solidFill>
                  <a:schemeClr val="tx1"/>
                </a:solidFill>
              </a:rPr>
              <a:t>Dos vecinos con economías de escala muy distinta</a:t>
            </a:r>
            <a:endParaRPr lang="en-US" sz="1600" dirty="0"/>
          </a:p>
        </p:txBody>
      </p:sp>
      <p:sp>
        <p:nvSpPr>
          <p:cNvPr id="5" name="Pregunta central fondo"/>
          <p:cNvSpPr/>
          <p:nvPr/>
        </p:nvSpPr>
        <p:spPr>
          <a:xfrm>
            <a:off x="6309360" y="1417320"/>
            <a:ext cx="5303520" cy="4206240"/>
          </a:xfrm>
          <a:prstGeom prst="roundRect">
            <a:avLst>
              <a:gd name="adj" fmla="val 3261"/>
            </a:avLst>
          </a:prstGeom>
          <a:solidFill>
            <a:schemeClr val="tx2"/>
          </a:solidFill>
          <a:ln/>
        </p:spPr>
      </p:sp>
      <p:sp>
        <p:nvSpPr>
          <p:cNvPr id="6" name="Text 4"/>
          <p:cNvSpPr txBox="1"/>
          <p:nvPr/>
        </p:nvSpPr>
        <p:spPr>
          <a:xfrm>
            <a:off x="6675120" y="1783080"/>
            <a:ext cx="4572000" cy="365760"/>
          </a:xfrm>
          <a:prstGeom prst="rect">
            <a:avLst/>
          </a:prstGeom>
          <a:noFill/>
          <a:ln/>
        </p:spPr>
        <p:txBody>
          <a:bodyPr wrap="square" lIns="0" tIns="0" rIns="0" bIns="0" rtlCol="0" anchor="t"/>
          <a:lstStyle/>
          <a:p>
            <a:pPr indent="0" marL="0">
              <a:buNone/>
            </a:pPr>
            <a:r>
              <a:rPr lang="en-US" sz="1400" b="1" dirty="0">
                <a:solidFill>
                  <a:schemeClr val="accent2"/>
                </a:solidFill>
              </a:rPr>
              <a:t>Pregunta central</a:t>
            </a:r>
            <a:endParaRPr lang="en-US" sz="1400" dirty="0"/>
          </a:p>
        </p:txBody>
      </p:sp>
      <p:sp>
        <p:nvSpPr>
          <p:cNvPr id="7" name="Text 5"/>
          <p:cNvSpPr txBox="1"/>
          <p:nvPr/>
        </p:nvSpPr>
        <p:spPr>
          <a:xfrm>
            <a:off x="6675120" y="2286000"/>
            <a:ext cx="4572000" cy="2194560"/>
          </a:xfrm>
          <a:prstGeom prst="rect">
            <a:avLst/>
          </a:prstGeom>
          <a:noFill/>
          <a:ln/>
        </p:spPr>
        <p:txBody>
          <a:bodyPr wrap="square" lIns="0" tIns="0" rIns="0" bIns="0" rtlCol="0" anchor="t"/>
          <a:lstStyle/>
          <a:p>
            <a:pPr indent="0" marL="0">
              <a:buNone/>
            </a:pPr>
            <a:r>
              <a:rPr lang="en-US" sz="2400" dirty="0">
                <a:solidFill>
                  <a:schemeClr val="bg1"/>
                </a:solidFill>
                <a:latin typeface="Cambria" pitchFamily="34" charset="0"/>
                <a:ea typeface="Cambria" pitchFamily="34" charset="-122"/>
                <a:cs typeface="Cambria" pitchFamily="34" charset="-120"/>
              </a:rPr>
              <a:t>¿Qué tan vulnerables son Argentina y Uruguay ante las crisis y ante la dependencia de pocos socios comerciales?</a:t>
            </a:r>
            <a:endParaRPr lang="en-US" sz="2400" dirty="0"/>
          </a:p>
        </p:txBody>
      </p:sp>
      <p:sp>
        <p:nvSpPr>
          <p:cNvPr id="8" name="Text 6"/>
          <p:cNvSpPr txBox="1"/>
          <p:nvPr/>
        </p:nvSpPr>
        <p:spPr>
          <a:xfrm>
            <a:off x="6675120" y="4937760"/>
            <a:ext cx="4572000" cy="365760"/>
          </a:xfrm>
          <a:prstGeom prst="rect">
            <a:avLst/>
          </a:prstGeom>
          <a:noFill/>
          <a:ln/>
        </p:spPr>
        <p:txBody>
          <a:bodyPr wrap="square" lIns="0" tIns="0" rIns="0" bIns="0" rtlCol="0" anchor="t"/>
          <a:lstStyle/>
          <a:p>
            <a:pPr indent="0" marL="0">
              <a:buNone/>
            </a:pPr>
            <a:r>
              <a:rPr lang="en-US" sz="1400" dirty="0">
                <a:solidFill>
                  <a:schemeClr val="accent1"/>
                </a:solidFill>
              </a:rPr>
              <a:t>Período analizado: 1994–2023</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rPr>
              <a:t>Cinco preguntas para responderla</a:t>
            </a:r>
            <a:endParaRPr lang="en-US" sz="3000" dirty="0"/>
          </a:p>
        </p:txBody>
      </p:sp>
      <p:sp>
        <p:nvSpPr>
          <p:cNvPr id="3" name="Pregunta 1 fondo"/>
          <p:cNvSpPr/>
          <p:nvPr/>
        </p:nvSpPr>
        <p:spPr>
          <a:xfrm>
            <a:off x="548640" y="1554480"/>
            <a:ext cx="2057400" cy="3931920"/>
          </a:xfrm>
          <a:prstGeom prst="roundRect">
            <a:avLst>
              <a:gd name="adj" fmla="val 5333"/>
            </a:avLst>
          </a:prstGeom>
          <a:solidFill>
            <a:schemeClr val="bg2"/>
          </a:solidFill>
          <a:ln/>
        </p:spPr>
      </p:sp>
      <p:sp>
        <p:nvSpPr>
          <p:cNvPr id="4" name="Pregunta 1 número"/>
          <p:cNvSpPr/>
          <p:nvPr/>
        </p:nvSpPr>
        <p:spPr>
          <a:xfrm>
            <a:off x="777240" y="1783080"/>
            <a:ext cx="685800" cy="685800"/>
          </a:xfrm>
          <a:prstGeom prst="ellipse">
            <a:avLst/>
          </a:prstGeom>
          <a:solidFill>
            <a:schemeClr val="accent2"/>
          </a:solidFill>
          <a:ln/>
        </p:spPr>
      </p:sp>
      <p:sp>
        <p:nvSpPr>
          <p:cNvPr id="5" name="Text 3"/>
          <p:cNvSpPr txBox="1"/>
          <p:nvPr/>
        </p:nvSpPr>
        <p:spPr>
          <a:xfrm>
            <a:off x="777240" y="1783080"/>
            <a:ext cx="685800" cy="685800"/>
          </a:xfrm>
          <a:prstGeom prst="rect">
            <a:avLst/>
          </a:prstGeom>
          <a:noFill/>
          <a:ln/>
        </p:spPr>
        <p:txBody>
          <a:bodyPr wrap="square" lIns="0" tIns="0" rIns="0" bIns="0" rtlCol="0" anchor="ctr"/>
          <a:lstStyle/>
          <a:p>
            <a:pPr algn="ctr" indent="0" marL="0">
              <a:buNone/>
            </a:pPr>
            <a:r>
              <a:rPr lang="en-US" sz="2400" b="1" dirty="0">
                <a:solidFill>
                  <a:schemeClr val="tx2"/>
                </a:solidFill>
              </a:rPr>
              <a:t>1</a:t>
            </a:r>
            <a:endParaRPr lang="en-US" sz="2400" dirty="0"/>
          </a:p>
        </p:txBody>
      </p:sp>
      <p:sp>
        <p:nvSpPr>
          <p:cNvPr id="6" name="Text 4"/>
          <p:cNvSpPr txBox="1"/>
          <p:nvPr/>
        </p:nvSpPr>
        <p:spPr>
          <a:xfrm>
            <a:off x="777240" y="2697480"/>
            <a:ext cx="1691640" cy="457200"/>
          </a:xfrm>
          <a:prstGeom prst="rect">
            <a:avLst/>
          </a:prstGeom>
          <a:noFill/>
          <a:ln/>
        </p:spPr>
        <p:txBody>
          <a:bodyPr wrap="square" lIns="0" tIns="0" rIns="0" bIns="0" rtlCol="0" anchor="t"/>
          <a:lstStyle/>
          <a:p>
            <a:pPr indent="0" marL="0">
              <a:buNone/>
            </a:pPr>
            <a:r>
              <a:rPr lang="en-US" sz="1800" b="1" dirty="0">
                <a:solidFill>
                  <a:schemeClr val="tx2"/>
                </a:solidFill>
              </a:rPr>
              <a:t>Crisis</a:t>
            </a:r>
            <a:endParaRPr lang="en-US" sz="1800" dirty="0"/>
          </a:p>
        </p:txBody>
      </p:sp>
      <p:sp>
        <p:nvSpPr>
          <p:cNvPr id="7" name="Text 5"/>
          <p:cNvSpPr txBox="1"/>
          <p:nvPr/>
        </p:nvSpPr>
        <p:spPr>
          <a:xfrm>
            <a:off x="777240" y="3246120"/>
            <a:ext cx="1691640" cy="2011680"/>
          </a:xfrm>
          <a:prstGeom prst="rect">
            <a:avLst/>
          </a:prstGeom>
          <a:noFill/>
          <a:ln/>
        </p:spPr>
        <p:txBody>
          <a:bodyPr wrap="square" lIns="0" tIns="0" rIns="0" bIns="0" rtlCol="0" anchor="t"/>
          <a:lstStyle/>
          <a:p>
            <a:pPr indent="0" marL="0">
              <a:buNone/>
            </a:pPr>
            <a:r>
              <a:rPr lang="en-US" sz="1500" dirty="0">
                <a:solidFill>
                  <a:schemeClr val="tx1"/>
                </a:solidFill>
              </a:rPr>
              <a:t>¿Cómo impactaron las crisis de 2002, 2009 y 2020 en el comercio?</a:t>
            </a:r>
            <a:endParaRPr lang="en-US" sz="1500" dirty="0"/>
          </a:p>
        </p:txBody>
      </p:sp>
      <p:sp>
        <p:nvSpPr>
          <p:cNvPr id="8" name="Pregunta 2 fondo"/>
          <p:cNvSpPr/>
          <p:nvPr/>
        </p:nvSpPr>
        <p:spPr>
          <a:xfrm>
            <a:off x="2816352" y="1554480"/>
            <a:ext cx="2057400" cy="3931920"/>
          </a:xfrm>
          <a:prstGeom prst="roundRect">
            <a:avLst>
              <a:gd name="adj" fmla="val 5333"/>
            </a:avLst>
          </a:prstGeom>
          <a:solidFill>
            <a:schemeClr val="bg2"/>
          </a:solidFill>
          <a:ln/>
        </p:spPr>
      </p:sp>
      <p:sp>
        <p:nvSpPr>
          <p:cNvPr id="9" name="Pregunta 2 número"/>
          <p:cNvSpPr/>
          <p:nvPr/>
        </p:nvSpPr>
        <p:spPr>
          <a:xfrm>
            <a:off x="3044952" y="1783080"/>
            <a:ext cx="685800" cy="685800"/>
          </a:xfrm>
          <a:prstGeom prst="ellipse">
            <a:avLst/>
          </a:prstGeom>
          <a:solidFill>
            <a:schemeClr val="accent2"/>
          </a:solidFill>
          <a:ln/>
        </p:spPr>
      </p:sp>
      <p:sp>
        <p:nvSpPr>
          <p:cNvPr id="10" name="Text 8"/>
          <p:cNvSpPr txBox="1"/>
          <p:nvPr/>
        </p:nvSpPr>
        <p:spPr>
          <a:xfrm>
            <a:off x="3044952" y="1783080"/>
            <a:ext cx="685800" cy="685800"/>
          </a:xfrm>
          <a:prstGeom prst="rect">
            <a:avLst/>
          </a:prstGeom>
          <a:noFill/>
          <a:ln/>
        </p:spPr>
        <p:txBody>
          <a:bodyPr wrap="square" lIns="0" tIns="0" rIns="0" bIns="0" rtlCol="0" anchor="ctr"/>
          <a:lstStyle/>
          <a:p>
            <a:pPr algn="ctr" indent="0" marL="0">
              <a:buNone/>
            </a:pPr>
            <a:r>
              <a:rPr lang="en-US" sz="2400" b="1" dirty="0">
                <a:solidFill>
                  <a:schemeClr val="tx2"/>
                </a:solidFill>
              </a:rPr>
              <a:t>2</a:t>
            </a:r>
            <a:endParaRPr lang="en-US" sz="2400" dirty="0"/>
          </a:p>
        </p:txBody>
      </p:sp>
      <p:sp>
        <p:nvSpPr>
          <p:cNvPr id="11" name="Text 9"/>
          <p:cNvSpPr txBox="1"/>
          <p:nvPr/>
        </p:nvSpPr>
        <p:spPr>
          <a:xfrm>
            <a:off x="3044952" y="2697480"/>
            <a:ext cx="1691640" cy="457200"/>
          </a:xfrm>
          <a:prstGeom prst="rect">
            <a:avLst/>
          </a:prstGeom>
          <a:noFill/>
          <a:ln/>
        </p:spPr>
        <p:txBody>
          <a:bodyPr wrap="square" lIns="0" tIns="0" rIns="0" bIns="0" rtlCol="0" anchor="t"/>
          <a:lstStyle/>
          <a:p>
            <a:pPr indent="0" marL="0">
              <a:buNone/>
            </a:pPr>
            <a:r>
              <a:rPr lang="en-US" sz="1800" b="1" dirty="0">
                <a:solidFill>
                  <a:schemeClr val="tx2"/>
                </a:solidFill>
              </a:rPr>
              <a:t>Balanza</a:t>
            </a:r>
            <a:endParaRPr lang="en-US" sz="1800" dirty="0"/>
          </a:p>
        </p:txBody>
      </p:sp>
      <p:sp>
        <p:nvSpPr>
          <p:cNvPr id="12" name="Text 10"/>
          <p:cNvSpPr txBox="1"/>
          <p:nvPr/>
        </p:nvSpPr>
        <p:spPr>
          <a:xfrm>
            <a:off x="3044952" y="3246120"/>
            <a:ext cx="1691640" cy="2011680"/>
          </a:xfrm>
          <a:prstGeom prst="rect">
            <a:avLst/>
          </a:prstGeom>
          <a:noFill/>
          <a:ln/>
        </p:spPr>
        <p:txBody>
          <a:bodyPr wrap="square" lIns="0" tIns="0" rIns="0" bIns="0" rtlCol="0" anchor="t"/>
          <a:lstStyle/>
          <a:p>
            <a:pPr indent="0" marL="0">
              <a:buNone/>
            </a:pPr>
            <a:r>
              <a:rPr lang="en-US" sz="1500" dirty="0">
                <a:solidFill>
                  <a:schemeClr val="tx1"/>
                </a:solidFill>
              </a:rPr>
              <a:t>¿Qué país tiene superávit y cuál déficit comercial?</a:t>
            </a:r>
            <a:endParaRPr lang="en-US" sz="1500" dirty="0"/>
          </a:p>
        </p:txBody>
      </p:sp>
      <p:sp>
        <p:nvSpPr>
          <p:cNvPr id="13" name="Pregunta 3 fondo"/>
          <p:cNvSpPr/>
          <p:nvPr/>
        </p:nvSpPr>
        <p:spPr>
          <a:xfrm>
            <a:off x="5084064" y="1554480"/>
            <a:ext cx="2057400" cy="3931920"/>
          </a:xfrm>
          <a:prstGeom prst="roundRect">
            <a:avLst>
              <a:gd name="adj" fmla="val 5333"/>
            </a:avLst>
          </a:prstGeom>
          <a:solidFill>
            <a:schemeClr val="bg2"/>
          </a:solidFill>
          <a:ln/>
        </p:spPr>
      </p:sp>
      <p:sp>
        <p:nvSpPr>
          <p:cNvPr id="14" name="Pregunta 3 número"/>
          <p:cNvSpPr/>
          <p:nvPr/>
        </p:nvSpPr>
        <p:spPr>
          <a:xfrm>
            <a:off x="5312664" y="1783080"/>
            <a:ext cx="685800" cy="685800"/>
          </a:xfrm>
          <a:prstGeom prst="ellipse">
            <a:avLst/>
          </a:prstGeom>
          <a:solidFill>
            <a:schemeClr val="accent2"/>
          </a:solidFill>
          <a:ln/>
        </p:spPr>
      </p:sp>
      <p:sp>
        <p:nvSpPr>
          <p:cNvPr id="15" name="Text 13"/>
          <p:cNvSpPr txBox="1"/>
          <p:nvPr/>
        </p:nvSpPr>
        <p:spPr>
          <a:xfrm>
            <a:off x="5312664" y="1783080"/>
            <a:ext cx="685800" cy="685800"/>
          </a:xfrm>
          <a:prstGeom prst="rect">
            <a:avLst/>
          </a:prstGeom>
          <a:noFill/>
          <a:ln/>
        </p:spPr>
        <p:txBody>
          <a:bodyPr wrap="square" lIns="0" tIns="0" rIns="0" bIns="0" rtlCol="0" anchor="ctr"/>
          <a:lstStyle/>
          <a:p>
            <a:pPr algn="ctr" indent="0" marL="0">
              <a:buNone/>
            </a:pPr>
            <a:r>
              <a:rPr lang="en-US" sz="2400" b="1" dirty="0">
                <a:solidFill>
                  <a:schemeClr val="tx2"/>
                </a:solidFill>
              </a:rPr>
              <a:t>3</a:t>
            </a:r>
            <a:endParaRPr lang="en-US" sz="2400" dirty="0"/>
          </a:p>
        </p:txBody>
      </p:sp>
      <p:sp>
        <p:nvSpPr>
          <p:cNvPr id="16" name="Text 14"/>
          <p:cNvSpPr txBox="1"/>
          <p:nvPr/>
        </p:nvSpPr>
        <p:spPr>
          <a:xfrm>
            <a:off x="5312664" y="2697480"/>
            <a:ext cx="1691640" cy="457200"/>
          </a:xfrm>
          <a:prstGeom prst="rect">
            <a:avLst/>
          </a:prstGeom>
          <a:noFill/>
          <a:ln/>
        </p:spPr>
        <p:txBody>
          <a:bodyPr wrap="square" lIns="0" tIns="0" rIns="0" bIns="0" rtlCol="0" anchor="t"/>
          <a:lstStyle/>
          <a:p>
            <a:pPr indent="0" marL="0">
              <a:buNone/>
            </a:pPr>
            <a:r>
              <a:rPr lang="en-US" sz="1800" b="1" dirty="0">
                <a:solidFill>
                  <a:schemeClr val="tx2"/>
                </a:solidFill>
              </a:rPr>
              <a:t>Socios</a:t>
            </a:r>
            <a:endParaRPr lang="en-US" sz="1800" dirty="0"/>
          </a:p>
        </p:txBody>
      </p:sp>
      <p:sp>
        <p:nvSpPr>
          <p:cNvPr id="17" name="Text 15"/>
          <p:cNvSpPr txBox="1"/>
          <p:nvPr/>
        </p:nvSpPr>
        <p:spPr>
          <a:xfrm>
            <a:off x="5312664" y="3246120"/>
            <a:ext cx="1691640" cy="2011680"/>
          </a:xfrm>
          <a:prstGeom prst="rect">
            <a:avLst/>
          </a:prstGeom>
          <a:noFill/>
          <a:ln/>
        </p:spPr>
        <p:txBody>
          <a:bodyPr wrap="square" lIns="0" tIns="0" rIns="0" bIns="0" rtlCol="0" anchor="t"/>
          <a:lstStyle/>
          <a:p>
            <a:pPr indent="0" marL="0">
              <a:buNone/>
            </a:pPr>
            <a:r>
              <a:rPr lang="en-US" sz="1500" dirty="0">
                <a:solidFill>
                  <a:schemeClr val="tx1"/>
                </a:solidFill>
              </a:rPr>
              <a:t>¿Cómo cambió el peso de Brasil, China y EE. UU.?</a:t>
            </a:r>
            <a:endParaRPr lang="en-US" sz="1500" dirty="0"/>
          </a:p>
        </p:txBody>
      </p:sp>
      <p:sp>
        <p:nvSpPr>
          <p:cNvPr id="18" name="Pregunta 4 fondo"/>
          <p:cNvSpPr/>
          <p:nvPr/>
        </p:nvSpPr>
        <p:spPr>
          <a:xfrm>
            <a:off x="7351776" y="1554480"/>
            <a:ext cx="2057400" cy="3931920"/>
          </a:xfrm>
          <a:prstGeom prst="roundRect">
            <a:avLst>
              <a:gd name="adj" fmla="val 5333"/>
            </a:avLst>
          </a:prstGeom>
          <a:solidFill>
            <a:schemeClr val="bg2"/>
          </a:solidFill>
          <a:ln/>
        </p:spPr>
      </p:sp>
      <p:sp>
        <p:nvSpPr>
          <p:cNvPr id="19" name="Pregunta 4 número"/>
          <p:cNvSpPr/>
          <p:nvPr/>
        </p:nvSpPr>
        <p:spPr>
          <a:xfrm>
            <a:off x="7580376" y="1783080"/>
            <a:ext cx="685800" cy="685800"/>
          </a:xfrm>
          <a:prstGeom prst="ellipse">
            <a:avLst/>
          </a:prstGeom>
          <a:solidFill>
            <a:schemeClr val="accent2"/>
          </a:solidFill>
          <a:ln/>
        </p:spPr>
      </p:sp>
      <p:sp>
        <p:nvSpPr>
          <p:cNvPr id="20" name="Text 18"/>
          <p:cNvSpPr txBox="1"/>
          <p:nvPr/>
        </p:nvSpPr>
        <p:spPr>
          <a:xfrm>
            <a:off x="7580376" y="1783080"/>
            <a:ext cx="685800" cy="685800"/>
          </a:xfrm>
          <a:prstGeom prst="rect">
            <a:avLst/>
          </a:prstGeom>
          <a:noFill/>
          <a:ln/>
        </p:spPr>
        <p:txBody>
          <a:bodyPr wrap="square" lIns="0" tIns="0" rIns="0" bIns="0" rtlCol="0" anchor="ctr"/>
          <a:lstStyle/>
          <a:p>
            <a:pPr algn="ctr" indent="0" marL="0">
              <a:buNone/>
            </a:pPr>
            <a:r>
              <a:rPr lang="en-US" sz="2400" b="1" dirty="0">
                <a:solidFill>
                  <a:schemeClr val="tx2"/>
                </a:solidFill>
              </a:rPr>
              <a:t>4</a:t>
            </a:r>
            <a:endParaRPr lang="en-US" sz="2400" dirty="0"/>
          </a:p>
        </p:txBody>
      </p:sp>
      <p:sp>
        <p:nvSpPr>
          <p:cNvPr id="21" name="Text 19"/>
          <p:cNvSpPr txBox="1"/>
          <p:nvPr/>
        </p:nvSpPr>
        <p:spPr>
          <a:xfrm>
            <a:off x="7580376" y="2697480"/>
            <a:ext cx="1691640" cy="457200"/>
          </a:xfrm>
          <a:prstGeom prst="rect">
            <a:avLst/>
          </a:prstGeom>
          <a:noFill/>
          <a:ln/>
        </p:spPr>
        <p:txBody>
          <a:bodyPr wrap="square" lIns="0" tIns="0" rIns="0" bIns="0" rtlCol="0" anchor="t"/>
          <a:lstStyle/>
          <a:p>
            <a:pPr indent="0" marL="0">
              <a:buNone/>
            </a:pPr>
            <a:r>
              <a:rPr lang="en-US" sz="1800" b="1" dirty="0">
                <a:solidFill>
                  <a:schemeClr val="tx2"/>
                </a:solidFill>
              </a:rPr>
              <a:t>Concentración</a:t>
            </a:r>
            <a:endParaRPr lang="en-US" sz="1800" dirty="0"/>
          </a:p>
        </p:txBody>
      </p:sp>
      <p:sp>
        <p:nvSpPr>
          <p:cNvPr id="22" name="Text 20"/>
          <p:cNvSpPr txBox="1"/>
          <p:nvPr/>
        </p:nvSpPr>
        <p:spPr>
          <a:xfrm>
            <a:off x="7580376" y="3246120"/>
            <a:ext cx="1691640" cy="2011680"/>
          </a:xfrm>
          <a:prstGeom prst="rect">
            <a:avLst/>
          </a:prstGeom>
          <a:noFill/>
          <a:ln/>
        </p:spPr>
        <p:txBody>
          <a:bodyPr wrap="square" lIns="0" tIns="0" rIns="0" bIns="0" rtlCol="0" anchor="t"/>
          <a:lstStyle/>
          <a:p>
            <a:pPr indent="0" marL="0">
              <a:buNone/>
            </a:pPr>
            <a:r>
              <a:rPr lang="en-US" sz="1500" dirty="0">
                <a:solidFill>
                  <a:schemeClr val="tx1"/>
                </a:solidFill>
              </a:rPr>
              <a:t>¿Dependen de pocos socios comerciales?</a:t>
            </a:r>
            <a:endParaRPr lang="en-US" sz="1500" dirty="0"/>
          </a:p>
        </p:txBody>
      </p:sp>
      <p:sp>
        <p:nvSpPr>
          <p:cNvPr id="23" name="Pregunta 5 fondo"/>
          <p:cNvSpPr/>
          <p:nvPr/>
        </p:nvSpPr>
        <p:spPr>
          <a:xfrm>
            <a:off x="9619488" y="1554480"/>
            <a:ext cx="2057400" cy="3931920"/>
          </a:xfrm>
          <a:prstGeom prst="roundRect">
            <a:avLst>
              <a:gd name="adj" fmla="val 5333"/>
            </a:avLst>
          </a:prstGeom>
          <a:solidFill>
            <a:schemeClr val="bg2"/>
          </a:solidFill>
          <a:ln/>
        </p:spPr>
      </p:sp>
      <p:sp>
        <p:nvSpPr>
          <p:cNvPr id="24" name="Pregunta 5 número"/>
          <p:cNvSpPr/>
          <p:nvPr/>
        </p:nvSpPr>
        <p:spPr>
          <a:xfrm>
            <a:off x="9848088" y="1783080"/>
            <a:ext cx="685800" cy="685800"/>
          </a:xfrm>
          <a:prstGeom prst="ellipse">
            <a:avLst/>
          </a:prstGeom>
          <a:solidFill>
            <a:schemeClr val="accent2"/>
          </a:solidFill>
          <a:ln/>
        </p:spPr>
      </p:sp>
      <p:sp>
        <p:nvSpPr>
          <p:cNvPr id="25" name="Text 23"/>
          <p:cNvSpPr txBox="1"/>
          <p:nvPr/>
        </p:nvSpPr>
        <p:spPr>
          <a:xfrm>
            <a:off x="9848088" y="1783080"/>
            <a:ext cx="685800" cy="685800"/>
          </a:xfrm>
          <a:prstGeom prst="rect">
            <a:avLst/>
          </a:prstGeom>
          <a:noFill/>
          <a:ln/>
        </p:spPr>
        <p:txBody>
          <a:bodyPr wrap="square" lIns="0" tIns="0" rIns="0" bIns="0" rtlCol="0" anchor="ctr"/>
          <a:lstStyle/>
          <a:p>
            <a:pPr algn="ctr" indent="0" marL="0">
              <a:buNone/>
            </a:pPr>
            <a:r>
              <a:rPr lang="en-US" sz="2400" b="1" dirty="0">
                <a:solidFill>
                  <a:schemeClr val="tx2"/>
                </a:solidFill>
              </a:rPr>
              <a:t>5</a:t>
            </a:r>
            <a:endParaRPr lang="en-US" sz="2400" dirty="0"/>
          </a:p>
        </p:txBody>
      </p:sp>
      <p:sp>
        <p:nvSpPr>
          <p:cNvPr id="26" name="Text 24"/>
          <p:cNvSpPr txBox="1"/>
          <p:nvPr/>
        </p:nvSpPr>
        <p:spPr>
          <a:xfrm>
            <a:off x="9848088" y="2697480"/>
            <a:ext cx="1691640" cy="457200"/>
          </a:xfrm>
          <a:prstGeom prst="rect">
            <a:avLst/>
          </a:prstGeom>
          <a:noFill/>
          <a:ln/>
        </p:spPr>
        <p:txBody>
          <a:bodyPr wrap="square" lIns="0" tIns="0" rIns="0" bIns="0" rtlCol="0" anchor="t"/>
          <a:lstStyle/>
          <a:p>
            <a:pPr indent="0" marL="0">
              <a:buNone/>
            </a:pPr>
            <a:r>
              <a:rPr lang="en-US" sz="1800" b="1" dirty="0">
                <a:solidFill>
                  <a:schemeClr val="tx2"/>
                </a:solidFill>
              </a:rPr>
              <a:t>Relación bilateral</a:t>
            </a:r>
            <a:endParaRPr lang="en-US" sz="1800" dirty="0"/>
          </a:p>
        </p:txBody>
      </p:sp>
      <p:sp>
        <p:nvSpPr>
          <p:cNvPr id="27" name="Text 25"/>
          <p:cNvSpPr txBox="1"/>
          <p:nvPr/>
        </p:nvSpPr>
        <p:spPr>
          <a:xfrm>
            <a:off x="9848088" y="3246120"/>
            <a:ext cx="1691640" cy="2011680"/>
          </a:xfrm>
          <a:prstGeom prst="rect">
            <a:avLst/>
          </a:prstGeom>
          <a:noFill/>
          <a:ln/>
        </p:spPr>
        <p:txBody>
          <a:bodyPr wrap="square" lIns="0" tIns="0" rIns="0" bIns="0" rtlCol="0" anchor="t"/>
          <a:lstStyle/>
          <a:p>
            <a:pPr indent="0" marL="0">
              <a:buNone/>
            </a:pPr>
            <a:r>
              <a:rPr lang="en-US" sz="1500" dirty="0">
                <a:solidFill>
                  <a:schemeClr val="tx1"/>
                </a:solidFill>
              </a:rPr>
              <a:t>¿Cuánto comercian entre sí y coinciden sus cifras?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rPr>
              <a:t>Los datos: 30 años de comercio con todos los socios</a:t>
            </a:r>
            <a:endParaRPr lang="en-US" sz="3000" dirty="0"/>
          </a:p>
        </p:txBody>
      </p:sp>
      <p:sp>
        <p:nvSpPr>
          <p:cNvPr id="3" name="Dato 1 fondo"/>
          <p:cNvSpPr/>
          <p:nvPr/>
        </p:nvSpPr>
        <p:spPr>
          <a:xfrm>
            <a:off x="548640" y="1600200"/>
            <a:ext cx="2606040" cy="2194560"/>
          </a:xfrm>
          <a:prstGeom prst="roundRect">
            <a:avLst>
              <a:gd name="adj" fmla="val 5000"/>
            </a:avLst>
          </a:prstGeom>
          <a:solidFill>
            <a:schemeClr val="bg2"/>
          </a:solidFill>
          <a:ln/>
        </p:spPr>
      </p:sp>
      <p:sp>
        <p:nvSpPr>
          <p:cNvPr id="4" name="Text 2"/>
          <p:cNvSpPr txBox="1"/>
          <p:nvPr/>
        </p:nvSpPr>
        <p:spPr>
          <a:xfrm>
            <a:off x="777240" y="1783080"/>
            <a:ext cx="2194560" cy="914400"/>
          </a:xfrm>
          <a:prstGeom prst="rect">
            <a:avLst/>
          </a:prstGeom>
          <a:noFill/>
          <a:ln/>
        </p:spPr>
        <p:txBody>
          <a:bodyPr wrap="square" lIns="0" tIns="0" rIns="0" bIns="0" rtlCol="0" anchor="t"/>
          <a:lstStyle/>
          <a:p>
            <a:pPr indent="0" marL="0">
              <a:buNone/>
            </a:pPr>
            <a:r>
              <a:rPr lang="en-US" sz="4800" b="1" dirty="0">
                <a:solidFill>
                  <a:schemeClr val="tx2"/>
                </a:solidFill>
                <a:latin typeface="Cambria" pitchFamily="34" charset="0"/>
                <a:ea typeface="Cambria" pitchFamily="34" charset="-122"/>
                <a:cs typeface="Cambria" pitchFamily="34" charset="-120"/>
              </a:rPr>
              <a:t>30</a:t>
            </a:r>
            <a:endParaRPr lang="en-US" sz="4800" dirty="0"/>
          </a:p>
        </p:txBody>
      </p:sp>
      <p:sp>
        <p:nvSpPr>
          <p:cNvPr id="5" name="Text 3"/>
          <p:cNvSpPr txBox="1"/>
          <p:nvPr/>
        </p:nvSpPr>
        <p:spPr>
          <a:xfrm>
            <a:off x="777240" y="2743200"/>
            <a:ext cx="2194560" cy="822960"/>
          </a:xfrm>
          <a:prstGeom prst="rect">
            <a:avLst/>
          </a:prstGeom>
          <a:noFill/>
          <a:ln/>
        </p:spPr>
        <p:txBody>
          <a:bodyPr wrap="square" lIns="0" tIns="0" rIns="0" bIns="0" rtlCol="0" anchor="t"/>
          <a:lstStyle/>
          <a:p>
            <a:pPr indent="0" marL="0">
              <a:buNone/>
            </a:pPr>
            <a:r>
              <a:rPr lang="en-US" sz="1500" dirty="0">
                <a:solidFill>
                  <a:schemeClr val="accent6"/>
                </a:solidFill>
              </a:rPr>
              <a:t>años analizados</a:t>
            </a:r>
            <a:endParaRPr lang="en-US" sz="1500" dirty="0"/>
          </a:p>
          <a:p>
            <a:pPr indent="0" marL="0">
              <a:buNone/>
            </a:pPr>
            <a:r>
              <a:rPr lang="en-US" sz="1500" dirty="0">
                <a:solidFill>
                  <a:schemeClr val="accent6"/>
                </a:solidFill>
              </a:rPr>
              <a:t>(1994–2023)</a:t>
            </a:r>
            <a:endParaRPr lang="en-US" sz="1500" dirty="0"/>
          </a:p>
        </p:txBody>
      </p:sp>
      <p:sp>
        <p:nvSpPr>
          <p:cNvPr id="6" name="Dato 2 fondo"/>
          <p:cNvSpPr/>
          <p:nvPr/>
        </p:nvSpPr>
        <p:spPr>
          <a:xfrm>
            <a:off x="3364992" y="1600200"/>
            <a:ext cx="2606040" cy="2194560"/>
          </a:xfrm>
          <a:prstGeom prst="roundRect">
            <a:avLst>
              <a:gd name="adj" fmla="val 5000"/>
            </a:avLst>
          </a:prstGeom>
          <a:solidFill>
            <a:schemeClr val="bg2"/>
          </a:solidFill>
          <a:ln/>
        </p:spPr>
      </p:sp>
      <p:sp>
        <p:nvSpPr>
          <p:cNvPr id="7" name="Text 5"/>
          <p:cNvSpPr txBox="1"/>
          <p:nvPr/>
        </p:nvSpPr>
        <p:spPr>
          <a:xfrm>
            <a:off x="3593592" y="1783080"/>
            <a:ext cx="2194560" cy="914400"/>
          </a:xfrm>
          <a:prstGeom prst="rect">
            <a:avLst/>
          </a:prstGeom>
          <a:noFill/>
          <a:ln/>
        </p:spPr>
        <p:txBody>
          <a:bodyPr wrap="square" lIns="0" tIns="0" rIns="0" bIns="0" rtlCol="0" anchor="t"/>
          <a:lstStyle/>
          <a:p>
            <a:pPr indent="0" marL="0">
              <a:buNone/>
            </a:pPr>
            <a:r>
              <a:rPr lang="en-US" sz="4800" b="1" dirty="0">
                <a:solidFill>
                  <a:schemeClr val="tx2"/>
                </a:solidFill>
                <a:latin typeface="Cambria" pitchFamily="34" charset="0"/>
                <a:ea typeface="Cambria" pitchFamily="34" charset="-122"/>
                <a:cs typeface="Cambria" pitchFamily="34" charset="-120"/>
              </a:rPr>
              <a:t>236</a:t>
            </a:r>
            <a:endParaRPr lang="en-US" sz="4800" dirty="0"/>
          </a:p>
        </p:txBody>
      </p:sp>
      <p:sp>
        <p:nvSpPr>
          <p:cNvPr id="8" name="Text 6"/>
          <p:cNvSpPr txBox="1"/>
          <p:nvPr/>
        </p:nvSpPr>
        <p:spPr>
          <a:xfrm>
            <a:off x="3593592" y="2743200"/>
            <a:ext cx="2194560" cy="822960"/>
          </a:xfrm>
          <a:prstGeom prst="rect">
            <a:avLst/>
          </a:prstGeom>
          <a:noFill/>
          <a:ln/>
        </p:spPr>
        <p:txBody>
          <a:bodyPr wrap="square" lIns="0" tIns="0" rIns="0" bIns="0" rtlCol="0" anchor="t"/>
          <a:lstStyle/>
          <a:p>
            <a:pPr indent="0" marL="0">
              <a:buNone/>
            </a:pPr>
            <a:r>
              <a:rPr lang="en-US" sz="1500" dirty="0">
                <a:solidFill>
                  <a:schemeClr val="accent6"/>
                </a:solidFill>
              </a:rPr>
              <a:t>países socios</a:t>
            </a:r>
            <a:endParaRPr lang="en-US" sz="1500" dirty="0"/>
          </a:p>
        </p:txBody>
      </p:sp>
      <p:sp>
        <p:nvSpPr>
          <p:cNvPr id="9" name="Dato 3 fondo"/>
          <p:cNvSpPr/>
          <p:nvPr/>
        </p:nvSpPr>
        <p:spPr>
          <a:xfrm>
            <a:off x="6181344" y="1600200"/>
            <a:ext cx="2606040" cy="2194560"/>
          </a:xfrm>
          <a:prstGeom prst="roundRect">
            <a:avLst>
              <a:gd name="adj" fmla="val 5000"/>
            </a:avLst>
          </a:prstGeom>
          <a:solidFill>
            <a:schemeClr val="bg2"/>
          </a:solidFill>
          <a:ln/>
        </p:spPr>
      </p:sp>
      <p:sp>
        <p:nvSpPr>
          <p:cNvPr id="10" name="Text 8"/>
          <p:cNvSpPr txBox="1"/>
          <p:nvPr/>
        </p:nvSpPr>
        <p:spPr>
          <a:xfrm>
            <a:off x="6409944" y="1783080"/>
            <a:ext cx="2194560" cy="914400"/>
          </a:xfrm>
          <a:prstGeom prst="rect">
            <a:avLst/>
          </a:prstGeom>
          <a:noFill/>
          <a:ln/>
        </p:spPr>
        <p:txBody>
          <a:bodyPr wrap="square" lIns="0" tIns="0" rIns="0" bIns="0" rtlCol="0" anchor="t"/>
          <a:lstStyle/>
          <a:p>
            <a:pPr indent="0" marL="0">
              <a:buNone/>
            </a:pPr>
            <a:r>
              <a:rPr lang="en-US" sz="4800" b="1" dirty="0">
                <a:solidFill>
                  <a:schemeClr val="tx2"/>
                </a:solidFill>
                <a:latin typeface="Cambria" pitchFamily="34" charset="0"/>
                <a:ea typeface="Cambria" pitchFamily="34" charset="-122"/>
                <a:cs typeface="Cambria" pitchFamily="34" charset="-120"/>
              </a:rPr>
              <a:t>19.551</a:t>
            </a:r>
            <a:endParaRPr lang="en-US" sz="4800" dirty="0"/>
          </a:p>
        </p:txBody>
      </p:sp>
      <p:sp>
        <p:nvSpPr>
          <p:cNvPr id="11" name="Text 9"/>
          <p:cNvSpPr txBox="1"/>
          <p:nvPr/>
        </p:nvSpPr>
        <p:spPr>
          <a:xfrm>
            <a:off x="6409944" y="2743200"/>
            <a:ext cx="2194560" cy="822960"/>
          </a:xfrm>
          <a:prstGeom prst="rect">
            <a:avLst/>
          </a:prstGeom>
          <a:noFill/>
          <a:ln/>
        </p:spPr>
        <p:txBody>
          <a:bodyPr wrap="square" lIns="0" tIns="0" rIns="0" bIns="0" rtlCol="0" anchor="t"/>
          <a:lstStyle/>
          <a:p>
            <a:pPr indent="0" marL="0">
              <a:buNone/>
            </a:pPr>
            <a:r>
              <a:rPr lang="en-US" sz="1500" dirty="0">
                <a:solidFill>
                  <a:schemeClr val="accent6"/>
                </a:solidFill>
              </a:rPr>
              <a:t>registros en la base</a:t>
            </a:r>
            <a:endParaRPr lang="en-US" sz="1500" dirty="0"/>
          </a:p>
        </p:txBody>
      </p:sp>
      <p:sp>
        <p:nvSpPr>
          <p:cNvPr id="12" name="Dato 4 fondo"/>
          <p:cNvSpPr/>
          <p:nvPr/>
        </p:nvSpPr>
        <p:spPr>
          <a:xfrm>
            <a:off x="8997696" y="1600200"/>
            <a:ext cx="2606040" cy="2194560"/>
          </a:xfrm>
          <a:prstGeom prst="roundRect">
            <a:avLst>
              <a:gd name="adj" fmla="val 5000"/>
            </a:avLst>
          </a:prstGeom>
          <a:solidFill>
            <a:schemeClr val="bg2"/>
          </a:solidFill>
          <a:ln/>
        </p:spPr>
      </p:sp>
      <p:sp>
        <p:nvSpPr>
          <p:cNvPr id="13" name="Text 11"/>
          <p:cNvSpPr txBox="1"/>
          <p:nvPr/>
        </p:nvSpPr>
        <p:spPr>
          <a:xfrm>
            <a:off x="9226296" y="1783080"/>
            <a:ext cx="2194560" cy="914400"/>
          </a:xfrm>
          <a:prstGeom prst="rect">
            <a:avLst/>
          </a:prstGeom>
          <a:noFill/>
          <a:ln/>
        </p:spPr>
        <p:txBody>
          <a:bodyPr wrap="square" lIns="0" tIns="0" rIns="0" bIns="0" rtlCol="0" anchor="t"/>
          <a:lstStyle/>
          <a:p>
            <a:pPr indent="0" marL="0">
              <a:buNone/>
            </a:pPr>
            <a:r>
              <a:rPr lang="en-US" sz="4800" b="1" dirty="0">
                <a:solidFill>
                  <a:schemeClr val="tx2"/>
                </a:solidFill>
                <a:latin typeface="Cambria" pitchFamily="34" charset="0"/>
                <a:ea typeface="Cambria" pitchFamily="34" charset="-122"/>
                <a:cs typeface="Cambria" pitchFamily="34" charset="-120"/>
              </a:rPr>
              <a:t>8</a:t>
            </a:r>
            <a:endParaRPr lang="en-US" sz="4800" dirty="0"/>
          </a:p>
        </p:txBody>
      </p:sp>
      <p:sp>
        <p:nvSpPr>
          <p:cNvPr id="14" name="Text 12"/>
          <p:cNvSpPr txBox="1"/>
          <p:nvPr/>
        </p:nvSpPr>
        <p:spPr>
          <a:xfrm>
            <a:off x="9226296" y="2743200"/>
            <a:ext cx="2194560" cy="822960"/>
          </a:xfrm>
          <a:prstGeom prst="rect">
            <a:avLst/>
          </a:prstGeom>
          <a:noFill/>
          <a:ln/>
        </p:spPr>
        <p:txBody>
          <a:bodyPr wrap="square" lIns="0" tIns="0" rIns="0" bIns="0" rtlCol="0" anchor="t"/>
          <a:lstStyle/>
          <a:p>
            <a:pPr indent="0" marL="0">
              <a:buNone/>
            </a:pPr>
            <a:r>
              <a:rPr lang="en-US" sz="1500" dirty="0">
                <a:solidFill>
                  <a:schemeClr val="accent6"/>
                </a:solidFill>
              </a:rPr>
              <a:t>archivos del</a:t>
            </a:r>
            <a:endParaRPr lang="en-US" sz="1500" dirty="0"/>
          </a:p>
          <a:p>
            <a:pPr indent="0" marL="0">
              <a:buNone/>
            </a:pPr>
            <a:r>
              <a:rPr lang="en-US" sz="1500" dirty="0">
                <a:solidFill>
                  <a:schemeClr val="accent6"/>
                </a:solidFill>
              </a:rPr>
              <a:t>Banco Mundial (WITS)</a:t>
            </a:r>
            <a:endParaRPr lang="en-US" sz="1500" dirty="0"/>
          </a:p>
        </p:txBody>
      </p:sp>
      <p:sp>
        <p:nvSpPr>
          <p:cNvPr id="15" name="Text 13"/>
          <p:cNvSpPr txBox="1"/>
          <p:nvPr/>
        </p:nvSpPr>
        <p:spPr>
          <a:xfrm>
            <a:off x="548640" y="4206240"/>
            <a:ext cx="11064240" cy="1737360"/>
          </a:xfrm>
          <a:prstGeom prst="rect">
            <a:avLst/>
          </a:prstGeom>
          <a:noFill/>
          <a:ln/>
        </p:spPr>
        <p:txBody>
          <a:bodyPr wrap="square" lIns="0" tIns="0" rIns="0" bIns="0" rtlCol="0" anchor="t"/>
          <a:lstStyle/>
          <a:p>
            <a:pPr indent="0" marL="0">
              <a:spcAft>
                <a:spcPts val="800"/>
              </a:spcAft>
              <a:buNone/>
            </a:pPr>
            <a:r>
              <a:rPr lang="en-US" sz="1500" b="1" dirty="0">
                <a:solidFill>
                  <a:schemeClr val="tx1"/>
                </a:solidFill>
              </a:rPr>
              <a:t>Fuente: </a:t>
            </a:r>
            <a:pPr indent="0" marL="0">
              <a:spcAft>
                <a:spcPts val="800"/>
              </a:spcAft>
              <a:buNone/>
            </a:pPr>
            <a:r>
              <a:rPr lang="en-US" sz="1500" dirty="0">
                <a:solidFill>
                  <a:schemeClr val="tx1"/>
                </a:solidFill>
              </a:rPr>
              <a:t>World Integrated Trade Solution (WITS), Banco Mundial. Exportaciones e importaciones de mercancías por país socio, en dólares corrientes y en % de participación.</a:t>
            </a:r>
            <a:endParaRPr lang="en-US" sz="1500" dirty="0"/>
          </a:p>
          <a:p>
            <a:pPr indent="0" marL="0">
              <a:spcAft>
                <a:spcPts val="800"/>
              </a:spcAft>
              <a:buNone/>
            </a:pPr>
            <a:r>
              <a:rPr lang="en-US" sz="1500" b="1" dirty="0">
                <a:solidFill>
                  <a:schemeClr val="tx1"/>
                </a:solidFill>
              </a:rPr>
              <a:t>Desafío: </a:t>
            </a:r>
            <a:pPr indent="0" marL="0">
              <a:spcAft>
                <a:spcPts val="800"/>
              </a:spcAft>
              <a:buNone/>
            </a:pPr>
            <a:r>
              <a:rPr lang="en-US" sz="1500" dirty="0">
                <a:solidFill>
                  <a:schemeClr val="tx1"/>
                </a:solidFill>
              </a:rPr>
              <a:t>los archivos venían en formato ancho, con espacios sobrantes y con países mezclados con regiones y totales, lo que obligó a limpiarlos y modelarlos antes de analizarlos.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rPr>
              <a:t>Cada herramienta cumple un rol en el proceso</a:t>
            </a:r>
            <a:endParaRPr lang="en-US" sz="3000" dirty="0"/>
          </a:p>
        </p:txBody>
      </p:sp>
      <p:sp>
        <p:nvSpPr>
          <p:cNvPr id="3" name="Etapa 1 fondo"/>
          <p:cNvSpPr/>
          <p:nvPr/>
        </p:nvSpPr>
        <p:spPr>
          <a:xfrm>
            <a:off x="548640" y="1600200"/>
            <a:ext cx="2514600" cy="3749040"/>
          </a:xfrm>
          <a:prstGeom prst="roundRect">
            <a:avLst>
              <a:gd name="adj" fmla="val 4364"/>
            </a:avLst>
          </a:prstGeom>
          <a:solidFill>
            <a:schemeClr val="bg2"/>
          </a:solidFill>
          <a:ln/>
        </p:spPr>
      </p:sp>
      <p:sp>
        <p:nvSpPr>
          <p:cNvPr id="4" name="Etapa 1 círculo"/>
          <p:cNvSpPr/>
          <p:nvPr/>
        </p:nvSpPr>
        <p:spPr>
          <a:xfrm>
            <a:off x="822960" y="1874520"/>
            <a:ext cx="914400" cy="914400"/>
          </a:xfrm>
          <a:prstGeom prst="ellipse">
            <a:avLst/>
          </a:prstGeom>
          <a:solidFill>
            <a:srgbClr val="5DA9E9"/>
          </a:solidFill>
          <a:ln/>
        </p:spPr>
      </p:sp>
      <p:pic>
        <p:nvPicPr>
          <p:cNvPr id="5" name="Etapa 1 ícono" descr="preencoded.png">    </p:cNvPr>
          <p:cNvPicPr>
            <a:picLocks noChangeAspect="1"/>
          </p:cNvPicPr>
          <p:nvPr/>
        </p:nvPicPr>
        <p:blipFill>
          <a:blip r:embed="rId1"/>
          <a:stretch>
            <a:fillRect/>
          </a:stretch>
        </p:blipFill>
        <p:spPr>
          <a:xfrm>
            <a:off x="1060704" y="2112264"/>
            <a:ext cx="438912" cy="438912"/>
          </a:xfrm>
          <a:prstGeom prst="rect">
            <a:avLst/>
          </a:prstGeom>
        </p:spPr>
      </p:pic>
      <p:sp>
        <p:nvSpPr>
          <p:cNvPr id="6" name="Text 3"/>
          <p:cNvSpPr txBox="1"/>
          <p:nvPr/>
        </p:nvSpPr>
        <p:spPr>
          <a:xfrm>
            <a:off x="822960" y="2971800"/>
            <a:ext cx="2011680" cy="320040"/>
          </a:xfrm>
          <a:prstGeom prst="rect">
            <a:avLst/>
          </a:prstGeom>
          <a:noFill/>
          <a:ln/>
        </p:spPr>
        <p:txBody>
          <a:bodyPr wrap="square" lIns="0" tIns="0" rIns="0" bIns="0" rtlCol="0" anchor="t"/>
          <a:lstStyle/>
          <a:p>
            <a:pPr indent="0" marL="0">
              <a:buNone/>
            </a:pPr>
            <a:r>
              <a:rPr lang="en-US" sz="1200" b="1" spc="100" kern="0" dirty="0">
                <a:solidFill>
                  <a:schemeClr val="accent6"/>
                </a:solidFill>
              </a:rPr>
              <a:t>FUENTE</a:t>
            </a:r>
            <a:endParaRPr lang="en-US" sz="1200" dirty="0"/>
          </a:p>
        </p:txBody>
      </p:sp>
      <p:sp>
        <p:nvSpPr>
          <p:cNvPr id="7" name="Text 4"/>
          <p:cNvSpPr txBox="1"/>
          <p:nvPr/>
        </p:nvSpPr>
        <p:spPr>
          <a:xfrm>
            <a:off x="822960" y="3337560"/>
            <a:ext cx="2011680" cy="457200"/>
          </a:xfrm>
          <a:prstGeom prst="rect">
            <a:avLst/>
          </a:prstGeom>
          <a:noFill/>
          <a:ln/>
        </p:spPr>
        <p:txBody>
          <a:bodyPr wrap="square" lIns="0" tIns="0" rIns="0" bIns="0" rtlCol="0" anchor="t"/>
          <a:lstStyle/>
          <a:p>
            <a:pPr indent="0" marL="0">
              <a:buNone/>
            </a:pPr>
            <a:r>
              <a:rPr lang="en-US" sz="1800" b="1" dirty="0">
                <a:solidFill>
                  <a:schemeClr val="tx2"/>
                </a:solidFill>
              </a:rPr>
              <a:t>WITS · Banco Mundial</a:t>
            </a:r>
            <a:endParaRPr lang="en-US" sz="1800" dirty="0"/>
          </a:p>
        </p:txBody>
      </p:sp>
      <p:sp>
        <p:nvSpPr>
          <p:cNvPr id="8" name="Text 5"/>
          <p:cNvSpPr txBox="1"/>
          <p:nvPr/>
        </p:nvSpPr>
        <p:spPr>
          <a:xfrm>
            <a:off x="822960" y="3886200"/>
            <a:ext cx="2011680" cy="1371600"/>
          </a:xfrm>
          <a:prstGeom prst="rect">
            <a:avLst/>
          </a:prstGeom>
          <a:noFill/>
          <a:ln/>
        </p:spPr>
        <p:txBody>
          <a:bodyPr wrap="square" lIns="0" tIns="0" rIns="0" bIns="0" rtlCol="0" anchor="t"/>
          <a:lstStyle/>
          <a:p>
            <a:pPr indent="0" marL="0">
              <a:buNone/>
            </a:pPr>
            <a:r>
              <a:rPr lang="en-US" sz="1400" dirty="0">
                <a:solidFill>
                  <a:schemeClr val="tx1"/>
                </a:solidFill>
              </a:rPr>
              <a:t>8 archivos Excel en formato ancho</a:t>
            </a:r>
            <a:endParaRPr lang="en-US" sz="1400" dirty="0"/>
          </a:p>
        </p:txBody>
      </p:sp>
      <p:sp>
        <p:nvSpPr>
          <p:cNvPr id="9" name="Flecha 1"/>
          <p:cNvSpPr/>
          <p:nvPr/>
        </p:nvSpPr>
        <p:spPr>
          <a:xfrm>
            <a:off x="3127248" y="3291840"/>
            <a:ext cx="237744" cy="365760"/>
          </a:xfrm>
          <a:prstGeom prst="chevron">
            <a:avLst/>
          </a:prstGeom>
          <a:solidFill>
            <a:schemeClr val="accent2"/>
          </a:solidFill>
          <a:ln/>
        </p:spPr>
      </p:sp>
      <p:sp>
        <p:nvSpPr>
          <p:cNvPr id="10" name="Etapa 2 fondo"/>
          <p:cNvSpPr/>
          <p:nvPr/>
        </p:nvSpPr>
        <p:spPr>
          <a:xfrm>
            <a:off x="3429000" y="1600200"/>
            <a:ext cx="2514600" cy="3749040"/>
          </a:xfrm>
          <a:prstGeom prst="roundRect">
            <a:avLst>
              <a:gd name="adj" fmla="val 4364"/>
            </a:avLst>
          </a:prstGeom>
          <a:solidFill>
            <a:schemeClr val="bg2"/>
          </a:solidFill>
          <a:ln/>
        </p:spPr>
      </p:sp>
      <p:sp>
        <p:nvSpPr>
          <p:cNvPr id="11" name="Etapa 2 círculo"/>
          <p:cNvSpPr/>
          <p:nvPr/>
        </p:nvSpPr>
        <p:spPr>
          <a:xfrm>
            <a:off x="3703320" y="1874520"/>
            <a:ext cx="914400" cy="914400"/>
          </a:xfrm>
          <a:prstGeom prst="ellipse">
            <a:avLst/>
          </a:prstGeom>
          <a:solidFill>
            <a:srgbClr val="5DA9E9"/>
          </a:solidFill>
          <a:ln/>
        </p:spPr>
      </p:sp>
      <p:pic>
        <p:nvPicPr>
          <p:cNvPr id="12" name="Etapa 2 ícono" descr="preencoded.png">    </p:cNvPr>
          <p:cNvPicPr>
            <a:picLocks noChangeAspect="1"/>
          </p:cNvPicPr>
          <p:nvPr/>
        </p:nvPicPr>
        <p:blipFill>
          <a:blip r:embed="rId2"/>
          <a:stretch>
            <a:fillRect/>
          </a:stretch>
        </p:blipFill>
        <p:spPr>
          <a:xfrm>
            <a:off x="3941064" y="2112264"/>
            <a:ext cx="438912" cy="438912"/>
          </a:xfrm>
          <a:prstGeom prst="rect">
            <a:avLst/>
          </a:prstGeom>
        </p:spPr>
      </p:pic>
      <p:sp>
        <p:nvSpPr>
          <p:cNvPr id="13" name="Text 9"/>
          <p:cNvSpPr txBox="1"/>
          <p:nvPr/>
        </p:nvSpPr>
        <p:spPr>
          <a:xfrm>
            <a:off x="3703320" y="2971800"/>
            <a:ext cx="2011680" cy="320040"/>
          </a:xfrm>
          <a:prstGeom prst="rect">
            <a:avLst/>
          </a:prstGeom>
          <a:noFill/>
          <a:ln/>
        </p:spPr>
        <p:txBody>
          <a:bodyPr wrap="square" lIns="0" tIns="0" rIns="0" bIns="0" rtlCol="0" anchor="t"/>
          <a:lstStyle/>
          <a:p>
            <a:pPr indent="0" marL="0">
              <a:buNone/>
            </a:pPr>
            <a:r>
              <a:rPr lang="en-US" sz="1200" b="1" spc="100" kern="0" dirty="0">
                <a:solidFill>
                  <a:schemeClr val="accent6"/>
                </a:solidFill>
              </a:rPr>
              <a:t>LIMPIEZA</a:t>
            </a:r>
            <a:endParaRPr lang="en-US" sz="1200" dirty="0"/>
          </a:p>
        </p:txBody>
      </p:sp>
      <p:sp>
        <p:nvSpPr>
          <p:cNvPr id="14" name="Text 10"/>
          <p:cNvSpPr txBox="1"/>
          <p:nvPr/>
        </p:nvSpPr>
        <p:spPr>
          <a:xfrm>
            <a:off x="3703320" y="3337560"/>
            <a:ext cx="2011680" cy="457200"/>
          </a:xfrm>
          <a:prstGeom prst="rect">
            <a:avLst/>
          </a:prstGeom>
          <a:noFill/>
          <a:ln/>
        </p:spPr>
        <p:txBody>
          <a:bodyPr wrap="square" lIns="0" tIns="0" rIns="0" bIns="0" rtlCol="0" anchor="t"/>
          <a:lstStyle/>
          <a:p>
            <a:pPr indent="0" marL="0">
              <a:buNone/>
            </a:pPr>
            <a:r>
              <a:rPr lang="en-US" sz="1800" b="1" dirty="0">
                <a:solidFill>
                  <a:schemeClr val="tx2"/>
                </a:solidFill>
              </a:rPr>
              <a:t>Python · pandas</a:t>
            </a:r>
            <a:endParaRPr lang="en-US" sz="1800" dirty="0"/>
          </a:p>
        </p:txBody>
      </p:sp>
      <p:sp>
        <p:nvSpPr>
          <p:cNvPr id="15" name="Text 11"/>
          <p:cNvSpPr txBox="1"/>
          <p:nvPr/>
        </p:nvSpPr>
        <p:spPr>
          <a:xfrm>
            <a:off x="3703320" y="3886200"/>
            <a:ext cx="2011680" cy="1371600"/>
          </a:xfrm>
          <a:prstGeom prst="rect">
            <a:avLst/>
          </a:prstGeom>
          <a:noFill/>
          <a:ln/>
        </p:spPr>
        <p:txBody>
          <a:bodyPr wrap="square" lIns="0" tIns="0" rIns="0" bIns="0" rtlCol="0" anchor="t"/>
          <a:lstStyle/>
          <a:p>
            <a:pPr indent="0" marL="0">
              <a:buNone/>
            </a:pPr>
            <a:r>
              <a:rPr lang="en-US" sz="1400" dirty="0">
                <a:solidFill>
                  <a:schemeClr val="tx1"/>
                </a:solidFill>
              </a:rPr>
              <a:t>Formato largo, socios clasificados, controles de calidad</a:t>
            </a:r>
            <a:endParaRPr lang="en-US" sz="1400" dirty="0"/>
          </a:p>
        </p:txBody>
      </p:sp>
      <p:sp>
        <p:nvSpPr>
          <p:cNvPr id="16" name="Flecha 2"/>
          <p:cNvSpPr/>
          <p:nvPr/>
        </p:nvSpPr>
        <p:spPr>
          <a:xfrm>
            <a:off x="6007608" y="3291840"/>
            <a:ext cx="237744" cy="365760"/>
          </a:xfrm>
          <a:prstGeom prst="chevron">
            <a:avLst/>
          </a:prstGeom>
          <a:solidFill>
            <a:schemeClr val="accent2"/>
          </a:solidFill>
          <a:ln/>
        </p:spPr>
      </p:sp>
      <p:sp>
        <p:nvSpPr>
          <p:cNvPr id="17" name="Etapa 3 fondo"/>
          <p:cNvSpPr/>
          <p:nvPr/>
        </p:nvSpPr>
        <p:spPr>
          <a:xfrm>
            <a:off x="6309360" y="1600200"/>
            <a:ext cx="2514600" cy="3749040"/>
          </a:xfrm>
          <a:prstGeom prst="roundRect">
            <a:avLst>
              <a:gd name="adj" fmla="val 4364"/>
            </a:avLst>
          </a:prstGeom>
          <a:solidFill>
            <a:schemeClr val="bg2"/>
          </a:solidFill>
          <a:ln/>
        </p:spPr>
      </p:sp>
      <p:sp>
        <p:nvSpPr>
          <p:cNvPr id="18" name="Etapa 3 círculo"/>
          <p:cNvSpPr/>
          <p:nvPr/>
        </p:nvSpPr>
        <p:spPr>
          <a:xfrm>
            <a:off x="6583680" y="1874520"/>
            <a:ext cx="914400" cy="914400"/>
          </a:xfrm>
          <a:prstGeom prst="ellipse">
            <a:avLst/>
          </a:prstGeom>
          <a:solidFill>
            <a:srgbClr val="5DA9E9"/>
          </a:solidFill>
          <a:ln/>
        </p:spPr>
      </p:sp>
      <p:pic>
        <p:nvPicPr>
          <p:cNvPr id="19" name="Etapa 3 ícono" descr="preencoded.png">    </p:cNvPr>
          <p:cNvPicPr>
            <a:picLocks noChangeAspect="1"/>
          </p:cNvPicPr>
          <p:nvPr/>
        </p:nvPicPr>
        <p:blipFill>
          <a:blip r:embed="rId3"/>
          <a:stretch>
            <a:fillRect/>
          </a:stretch>
        </p:blipFill>
        <p:spPr>
          <a:xfrm>
            <a:off x="6821424" y="2112264"/>
            <a:ext cx="438912" cy="438912"/>
          </a:xfrm>
          <a:prstGeom prst="rect">
            <a:avLst/>
          </a:prstGeom>
        </p:spPr>
      </p:pic>
      <p:sp>
        <p:nvSpPr>
          <p:cNvPr id="20" name="Text 15"/>
          <p:cNvSpPr txBox="1"/>
          <p:nvPr/>
        </p:nvSpPr>
        <p:spPr>
          <a:xfrm>
            <a:off x="6583680" y="2971800"/>
            <a:ext cx="2011680" cy="320040"/>
          </a:xfrm>
          <a:prstGeom prst="rect">
            <a:avLst/>
          </a:prstGeom>
          <a:noFill/>
          <a:ln/>
        </p:spPr>
        <p:txBody>
          <a:bodyPr wrap="square" lIns="0" tIns="0" rIns="0" bIns="0" rtlCol="0" anchor="t"/>
          <a:lstStyle/>
          <a:p>
            <a:pPr indent="0" marL="0">
              <a:buNone/>
            </a:pPr>
            <a:r>
              <a:rPr lang="en-US" sz="1200" b="1" spc="100" kern="0" dirty="0">
                <a:solidFill>
                  <a:schemeClr val="accent6"/>
                </a:solidFill>
              </a:rPr>
              <a:t>ALMACENAR Y ANALIZAR</a:t>
            </a:r>
            <a:endParaRPr lang="en-US" sz="1200" dirty="0"/>
          </a:p>
        </p:txBody>
      </p:sp>
      <p:sp>
        <p:nvSpPr>
          <p:cNvPr id="21" name="Text 16"/>
          <p:cNvSpPr txBox="1"/>
          <p:nvPr/>
        </p:nvSpPr>
        <p:spPr>
          <a:xfrm>
            <a:off x="6583680" y="3337560"/>
            <a:ext cx="2011680" cy="457200"/>
          </a:xfrm>
          <a:prstGeom prst="rect">
            <a:avLst/>
          </a:prstGeom>
          <a:noFill/>
          <a:ln/>
        </p:spPr>
        <p:txBody>
          <a:bodyPr wrap="square" lIns="0" tIns="0" rIns="0" bIns="0" rtlCol="0" anchor="t"/>
          <a:lstStyle/>
          <a:p>
            <a:pPr indent="0" marL="0">
              <a:buNone/>
            </a:pPr>
            <a:r>
              <a:rPr lang="en-US" sz="1800" b="1" dirty="0">
                <a:solidFill>
                  <a:schemeClr val="tx2"/>
                </a:solidFill>
              </a:rPr>
              <a:t>MySQL</a:t>
            </a:r>
            <a:endParaRPr lang="en-US" sz="1800" dirty="0"/>
          </a:p>
        </p:txBody>
      </p:sp>
      <p:sp>
        <p:nvSpPr>
          <p:cNvPr id="22" name="Text 17"/>
          <p:cNvSpPr txBox="1"/>
          <p:nvPr/>
        </p:nvSpPr>
        <p:spPr>
          <a:xfrm>
            <a:off x="6583680" y="3886200"/>
            <a:ext cx="2011680" cy="1371600"/>
          </a:xfrm>
          <a:prstGeom prst="rect">
            <a:avLst/>
          </a:prstGeom>
          <a:noFill/>
          <a:ln/>
        </p:spPr>
        <p:txBody>
          <a:bodyPr wrap="square" lIns="0" tIns="0" rIns="0" bIns="0" rtlCol="0" anchor="t"/>
          <a:lstStyle/>
          <a:p>
            <a:pPr indent="0" marL="0">
              <a:buNone/>
            </a:pPr>
            <a:r>
              <a:rPr lang="en-US" sz="1400" dirty="0">
                <a:solidFill>
                  <a:schemeClr val="tx1"/>
                </a:solidFill>
              </a:rPr>
              <a:t>Modelo estrella con reglas de integridad y consultas que responden las preguntas</a:t>
            </a:r>
            <a:endParaRPr lang="en-US" sz="1400" dirty="0"/>
          </a:p>
        </p:txBody>
      </p:sp>
      <p:sp>
        <p:nvSpPr>
          <p:cNvPr id="23" name="Flecha 3"/>
          <p:cNvSpPr/>
          <p:nvPr/>
        </p:nvSpPr>
        <p:spPr>
          <a:xfrm>
            <a:off x="8887968" y="3291840"/>
            <a:ext cx="237744" cy="365760"/>
          </a:xfrm>
          <a:prstGeom prst="chevron">
            <a:avLst/>
          </a:prstGeom>
          <a:solidFill>
            <a:schemeClr val="accent2"/>
          </a:solidFill>
          <a:ln/>
        </p:spPr>
      </p:sp>
      <p:sp>
        <p:nvSpPr>
          <p:cNvPr id="24" name="Etapa 4 fondo"/>
          <p:cNvSpPr/>
          <p:nvPr/>
        </p:nvSpPr>
        <p:spPr>
          <a:xfrm>
            <a:off x="9189720" y="1600200"/>
            <a:ext cx="2514600" cy="3749040"/>
          </a:xfrm>
          <a:prstGeom prst="roundRect">
            <a:avLst>
              <a:gd name="adj" fmla="val 4364"/>
            </a:avLst>
          </a:prstGeom>
          <a:solidFill>
            <a:schemeClr val="bg2"/>
          </a:solidFill>
          <a:ln/>
        </p:spPr>
      </p:sp>
      <p:sp>
        <p:nvSpPr>
          <p:cNvPr id="25" name="Etapa 4 círculo"/>
          <p:cNvSpPr/>
          <p:nvPr/>
        </p:nvSpPr>
        <p:spPr>
          <a:xfrm>
            <a:off x="9464040" y="1874520"/>
            <a:ext cx="914400" cy="914400"/>
          </a:xfrm>
          <a:prstGeom prst="ellipse">
            <a:avLst/>
          </a:prstGeom>
          <a:solidFill>
            <a:srgbClr val="5DA9E9"/>
          </a:solidFill>
          <a:ln/>
        </p:spPr>
      </p:sp>
      <p:pic>
        <p:nvPicPr>
          <p:cNvPr id="26" name="Etapa 4 ícono" descr="preencoded.png">    </p:cNvPr>
          <p:cNvPicPr>
            <a:picLocks noChangeAspect="1"/>
          </p:cNvPicPr>
          <p:nvPr/>
        </p:nvPicPr>
        <p:blipFill>
          <a:blip r:embed="rId4"/>
          <a:stretch>
            <a:fillRect/>
          </a:stretch>
        </p:blipFill>
        <p:spPr>
          <a:xfrm>
            <a:off x="9701784" y="2112264"/>
            <a:ext cx="438912" cy="438912"/>
          </a:xfrm>
          <a:prstGeom prst="rect">
            <a:avLst/>
          </a:prstGeom>
        </p:spPr>
      </p:pic>
      <p:sp>
        <p:nvSpPr>
          <p:cNvPr id="27" name="Text 21"/>
          <p:cNvSpPr txBox="1"/>
          <p:nvPr/>
        </p:nvSpPr>
        <p:spPr>
          <a:xfrm>
            <a:off x="9464040" y="2971800"/>
            <a:ext cx="2011680" cy="320040"/>
          </a:xfrm>
          <a:prstGeom prst="rect">
            <a:avLst/>
          </a:prstGeom>
          <a:noFill/>
          <a:ln/>
        </p:spPr>
        <p:txBody>
          <a:bodyPr wrap="square" lIns="0" tIns="0" rIns="0" bIns="0" rtlCol="0" anchor="t"/>
          <a:lstStyle/>
          <a:p>
            <a:pPr indent="0" marL="0">
              <a:buNone/>
            </a:pPr>
            <a:r>
              <a:rPr lang="en-US" sz="1200" b="1" spc="100" kern="0" dirty="0">
                <a:solidFill>
                  <a:schemeClr val="accent6"/>
                </a:solidFill>
              </a:rPr>
              <a:t>COMUNICAR</a:t>
            </a:r>
            <a:endParaRPr lang="en-US" sz="1200" dirty="0"/>
          </a:p>
        </p:txBody>
      </p:sp>
      <p:sp>
        <p:nvSpPr>
          <p:cNvPr id="28" name="Text 22"/>
          <p:cNvSpPr txBox="1"/>
          <p:nvPr/>
        </p:nvSpPr>
        <p:spPr>
          <a:xfrm>
            <a:off x="9464040" y="3337560"/>
            <a:ext cx="2011680" cy="457200"/>
          </a:xfrm>
          <a:prstGeom prst="rect">
            <a:avLst/>
          </a:prstGeom>
          <a:noFill/>
          <a:ln/>
        </p:spPr>
        <p:txBody>
          <a:bodyPr wrap="square" lIns="0" tIns="0" rIns="0" bIns="0" rtlCol="0" anchor="t"/>
          <a:lstStyle/>
          <a:p>
            <a:pPr indent="0" marL="0">
              <a:buNone/>
            </a:pPr>
            <a:r>
              <a:rPr lang="en-US" sz="1800" b="1" dirty="0">
                <a:solidFill>
                  <a:schemeClr val="tx2"/>
                </a:solidFill>
              </a:rPr>
              <a:t>Power BI</a:t>
            </a:r>
            <a:endParaRPr lang="en-US" sz="1800" dirty="0"/>
          </a:p>
        </p:txBody>
      </p:sp>
      <p:sp>
        <p:nvSpPr>
          <p:cNvPr id="29" name="Text 23"/>
          <p:cNvSpPr txBox="1"/>
          <p:nvPr/>
        </p:nvSpPr>
        <p:spPr>
          <a:xfrm>
            <a:off x="9464040" y="3886200"/>
            <a:ext cx="2011680" cy="1371600"/>
          </a:xfrm>
          <a:prstGeom prst="rect">
            <a:avLst/>
          </a:prstGeom>
          <a:noFill/>
          <a:ln/>
        </p:spPr>
        <p:txBody>
          <a:bodyPr wrap="square" lIns="0" tIns="0" rIns="0" bIns="0" rtlCol="0" anchor="t"/>
          <a:lstStyle/>
          <a:p>
            <a:pPr indent="0" marL="0">
              <a:buNone/>
            </a:pPr>
            <a:r>
              <a:rPr lang="en-US" sz="1400" dirty="0">
                <a:solidFill>
                  <a:schemeClr val="tx1"/>
                </a:solidFill>
              </a:rPr>
              <a:t>Modelo, 7 medidas DAX y dashboard interactivo</a:t>
            </a:r>
            <a:endParaRPr lang="en-US" sz="1400" dirty="0"/>
          </a:p>
        </p:txBody>
      </p:sp>
      <p:sp>
        <p:nvSpPr>
          <p:cNvPr id="30" name="Text 24"/>
          <p:cNvSpPr txBox="1"/>
          <p:nvPr/>
        </p:nvSpPr>
        <p:spPr>
          <a:xfrm>
            <a:off x="548640" y="5623560"/>
            <a:ext cx="11064240" cy="548640"/>
          </a:xfrm>
          <a:prstGeom prst="rect">
            <a:avLst/>
          </a:prstGeom>
          <a:noFill/>
          <a:ln/>
        </p:spPr>
        <p:txBody>
          <a:bodyPr wrap="square" lIns="0" tIns="0" rIns="0" bIns="0" rtlCol="0" anchor="t"/>
          <a:lstStyle/>
          <a:p>
            <a:pPr indent="0" marL="0">
              <a:buNone/>
            </a:pPr>
            <a:r>
              <a:rPr lang="en-US" sz="1500" i="1" dirty="0">
                <a:solidFill>
                  <a:schemeClr val="accent6"/>
                </a:solidFill>
              </a:rPr>
              <a:t>Todo el proceso es reproducible: con los mismos archivos y scripts se obtienen los mismos resultados, y si WITS publica datos nuevos el dashboard se actualiza.</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rPr>
              <a:t>En cada crisis caen las importaciones, no las exportaciones</a:t>
            </a:r>
            <a:endParaRPr lang="en-US" sz="3000" dirty="0"/>
          </a:p>
        </p:txBody>
      </p:sp>
      <p:graphicFrame>
        <p:nvGraphicFramePr>
          <p:cNvPr id="3" name="Gráfico Argentina" descr=""/>
          <p:cNvGraphicFramePr/>
          <p:nvPr/>
        </p:nvGraphicFramePr>
        <p:xfrm>
          <a:off x="457200" y="1371600"/>
          <a:ext cx="4343400" cy="37490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Gráfico Uruguay" descr=""/>
          <p:cNvGraphicFramePr/>
          <p:nvPr/>
        </p:nvGraphicFramePr>
        <p:xfrm>
          <a:off x="4892040" y="1371600"/>
          <a:ext cx="4343400" cy="374904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9509760" y="1417320"/>
            <a:ext cx="2194560" cy="365760"/>
          </a:xfrm>
          <a:prstGeom prst="rect">
            <a:avLst/>
          </a:prstGeom>
          <a:noFill/>
          <a:ln/>
        </p:spPr>
        <p:txBody>
          <a:bodyPr wrap="square" lIns="0" tIns="0" rIns="0" bIns="0" rtlCol="0" anchor="t"/>
          <a:lstStyle/>
          <a:p>
            <a:pPr indent="0" marL="0">
              <a:buNone/>
            </a:pPr>
            <a:r>
              <a:rPr lang="en-US" sz="1400" b="1" dirty="0">
                <a:solidFill>
                  <a:schemeClr val="accent6"/>
                </a:solidFill>
              </a:rPr>
              <a:t>Caída de las importaciones</a:t>
            </a:r>
            <a:endParaRPr lang="en-US" sz="1400" dirty="0"/>
          </a:p>
        </p:txBody>
      </p:sp>
      <p:sp>
        <p:nvSpPr>
          <p:cNvPr id="6" name="Text 2"/>
          <p:cNvSpPr txBox="1"/>
          <p:nvPr/>
        </p:nvSpPr>
        <p:spPr>
          <a:xfrm>
            <a:off x="9509760" y="1828800"/>
            <a:ext cx="2194560" cy="640080"/>
          </a:xfrm>
          <a:prstGeom prst="rect">
            <a:avLst/>
          </a:prstGeom>
          <a:noFill/>
          <a:ln/>
        </p:spPr>
        <p:txBody>
          <a:bodyPr wrap="square" lIns="0" tIns="0" rIns="0" bIns="0" rtlCol="0" anchor="t"/>
          <a:lstStyle/>
          <a:p>
            <a:pPr indent="0" marL="0">
              <a:buNone/>
            </a:pPr>
            <a:r>
              <a:rPr lang="en-US" sz="3600" b="1" dirty="0">
                <a:solidFill>
                  <a:schemeClr val="accent5"/>
                </a:solidFill>
                <a:latin typeface="Cambria" pitchFamily="34" charset="0"/>
                <a:ea typeface="Cambria" pitchFamily="34" charset="-122"/>
                <a:cs typeface="Cambria" pitchFamily="34" charset="-120"/>
              </a:rPr>
              <a:t>−56 %</a:t>
            </a:r>
            <a:endParaRPr lang="en-US" sz="3600" dirty="0"/>
          </a:p>
        </p:txBody>
      </p:sp>
      <p:sp>
        <p:nvSpPr>
          <p:cNvPr id="7" name="Text 3"/>
          <p:cNvSpPr txBox="1"/>
          <p:nvPr/>
        </p:nvSpPr>
        <p:spPr>
          <a:xfrm>
            <a:off x="9509760" y="2468880"/>
            <a:ext cx="2194560" cy="320040"/>
          </a:xfrm>
          <a:prstGeom prst="rect">
            <a:avLst/>
          </a:prstGeom>
          <a:noFill/>
          <a:ln/>
        </p:spPr>
        <p:txBody>
          <a:bodyPr wrap="square" lIns="0" tIns="0" rIns="0" bIns="0" rtlCol="0" anchor="t"/>
          <a:lstStyle/>
          <a:p>
            <a:pPr indent="0" marL="0">
              <a:buNone/>
            </a:pPr>
            <a:r>
              <a:rPr lang="en-US" sz="1400" dirty="0">
                <a:solidFill>
                  <a:schemeClr val="tx1"/>
                </a:solidFill>
              </a:rPr>
              <a:t>Argentina, 2002</a:t>
            </a:r>
            <a:endParaRPr lang="en-US" sz="1400" dirty="0"/>
          </a:p>
        </p:txBody>
      </p:sp>
      <p:sp>
        <p:nvSpPr>
          <p:cNvPr id="8" name="Text 4"/>
          <p:cNvSpPr txBox="1"/>
          <p:nvPr/>
        </p:nvSpPr>
        <p:spPr>
          <a:xfrm>
            <a:off x="9509760" y="2926080"/>
            <a:ext cx="2194560" cy="640080"/>
          </a:xfrm>
          <a:prstGeom prst="rect">
            <a:avLst/>
          </a:prstGeom>
          <a:noFill/>
          <a:ln/>
        </p:spPr>
        <p:txBody>
          <a:bodyPr wrap="square" lIns="0" tIns="0" rIns="0" bIns="0" rtlCol="0" anchor="t"/>
          <a:lstStyle/>
          <a:p>
            <a:pPr indent="0" marL="0">
              <a:buNone/>
            </a:pPr>
            <a:r>
              <a:rPr lang="en-US" sz="3600" b="1" dirty="0">
                <a:solidFill>
                  <a:schemeClr val="accent5"/>
                </a:solidFill>
                <a:latin typeface="Cambria" pitchFamily="34" charset="0"/>
                <a:ea typeface="Cambria" pitchFamily="34" charset="-122"/>
                <a:cs typeface="Cambria" pitchFamily="34" charset="-120"/>
              </a:rPr>
              <a:t>−36 %</a:t>
            </a:r>
            <a:endParaRPr lang="en-US" sz="3600" dirty="0"/>
          </a:p>
        </p:txBody>
      </p:sp>
      <p:sp>
        <p:nvSpPr>
          <p:cNvPr id="9" name="Text 5"/>
          <p:cNvSpPr txBox="1"/>
          <p:nvPr/>
        </p:nvSpPr>
        <p:spPr>
          <a:xfrm>
            <a:off x="9509760" y="3566160"/>
            <a:ext cx="2194560" cy="320040"/>
          </a:xfrm>
          <a:prstGeom prst="rect">
            <a:avLst/>
          </a:prstGeom>
          <a:noFill/>
          <a:ln/>
        </p:spPr>
        <p:txBody>
          <a:bodyPr wrap="square" lIns="0" tIns="0" rIns="0" bIns="0" rtlCol="0" anchor="t"/>
          <a:lstStyle/>
          <a:p>
            <a:pPr indent="0" marL="0">
              <a:buNone/>
            </a:pPr>
            <a:r>
              <a:rPr lang="en-US" sz="1400" dirty="0">
                <a:solidFill>
                  <a:schemeClr val="tx1"/>
                </a:solidFill>
              </a:rPr>
              <a:t>Uruguay, 2002</a:t>
            </a:r>
            <a:endParaRPr lang="en-US" sz="1400" dirty="0"/>
          </a:p>
        </p:txBody>
      </p:sp>
      <p:sp>
        <p:nvSpPr>
          <p:cNvPr id="10" name="Text 6"/>
          <p:cNvSpPr txBox="1"/>
          <p:nvPr/>
        </p:nvSpPr>
        <p:spPr>
          <a:xfrm>
            <a:off x="9509760" y="4023360"/>
            <a:ext cx="2194560" cy="640080"/>
          </a:xfrm>
          <a:prstGeom prst="rect">
            <a:avLst/>
          </a:prstGeom>
          <a:noFill/>
          <a:ln/>
        </p:spPr>
        <p:txBody>
          <a:bodyPr wrap="square" lIns="0" tIns="0" rIns="0" bIns="0" rtlCol="0" anchor="t"/>
          <a:lstStyle/>
          <a:p>
            <a:pPr indent="0" marL="0">
              <a:buNone/>
            </a:pPr>
            <a:r>
              <a:rPr lang="en-US" sz="3600" b="1" dirty="0">
                <a:solidFill>
                  <a:schemeClr val="accent5"/>
                </a:solidFill>
                <a:latin typeface="Cambria" pitchFamily="34" charset="0"/>
                <a:ea typeface="Cambria" pitchFamily="34" charset="-122"/>
                <a:cs typeface="Cambria" pitchFamily="34" charset="-120"/>
              </a:rPr>
              <a:t>−33 %</a:t>
            </a:r>
            <a:endParaRPr lang="en-US" sz="3600" dirty="0"/>
          </a:p>
        </p:txBody>
      </p:sp>
      <p:sp>
        <p:nvSpPr>
          <p:cNvPr id="11" name="Text 7"/>
          <p:cNvSpPr txBox="1"/>
          <p:nvPr/>
        </p:nvSpPr>
        <p:spPr>
          <a:xfrm>
            <a:off x="9509760" y="4663440"/>
            <a:ext cx="2194560" cy="320040"/>
          </a:xfrm>
          <a:prstGeom prst="rect">
            <a:avLst/>
          </a:prstGeom>
          <a:noFill/>
          <a:ln/>
        </p:spPr>
        <p:txBody>
          <a:bodyPr wrap="square" lIns="0" tIns="0" rIns="0" bIns="0" rtlCol="0" anchor="t"/>
          <a:lstStyle/>
          <a:p>
            <a:pPr indent="0" marL="0">
              <a:buNone/>
            </a:pPr>
            <a:r>
              <a:rPr lang="en-US" sz="1400" dirty="0">
                <a:solidFill>
                  <a:schemeClr val="tx1"/>
                </a:solidFill>
              </a:rPr>
              <a:t>Argentina, 2009</a:t>
            </a:r>
            <a:endParaRPr lang="en-US" sz="1400" dirty="0"/>
          </a:p>
        </p:txBody>
      </p:sp>
      <p:sp>
        <p:nvSpPr>
          <p:cNvPr id="12" name="Text 8"/>
          <p:cNvSpPr txBox="1"/>
          <p:nvPr/>
        </p:nvSpPr>
        <p:spPr>
          <a:xfrm>
            <a:off x="548640" y="5349240"/>
            <a:ext cx="11064240" cy="731520"/>
          </a:xfrm>
          <a:prstGeom prst="rect">
            <a:avLst/>
          </a:prstGeom>
          <a:noFill/>
          <a:ln/>
        </p:spPr>
        <p:txBody>
          <a:bodyPr wrap="square" lIns="0" tIns="0" rIns="0" bIns="0" rtlCol="0" anchor="t"/>
          <a:lstStyle/>
          <a:p>
            <a:pPr indent="0" marL="0">
              <a:buNone/>
            </a:pPr>
            <a:r>
              <a:rPr lang="en-US" sz="1500" dirty="0">
                <a:solidFill>
                  <a:schemeClr val="tx1"/>
                </a:solidFill>
              </a:rPr>
              <a:t>En 2002 las exportaciones apenas bajaron (−3 % en Argentina, −10 % en Uruguay). Las importaciones funcionan como un termómetro de la crisis interna.</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rPr>
              <a:t>Dos modelos: Argentina con superávit, Uruguay con déficit</a:t>
            </a:r>
            <a:endParaRPr lang="en-US" sz="3000" dirty="0"/>
          </a:p>
        </p:txBody>
      </p:sp>
      <p:graphicFrame>
        <p:nvGraphicFramePr>
          <p:cNvPr id="3" name="Balanza Argentina" descr=""/>
          <p:cNvGraphicFramePr/>
          <p:nvPr/>
        </p:nvGraphicFramePr>
        <p:xfrm>
          <a:off x="457200" y="1371600"/>
          <a:ext cx="5486400" cy="36576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Balanza Uruguay" descr=""/>
          <p:cNvGraphicFramePr/>
          <p:nvPr/>
        </p:nvGraphicFramePr>
        <p:xfrm>
          <a:off x="6263640" y="1371600"/>
          <a:ext cx="5486400" cy="365760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548640" y="5257800"/>
            <a:ext cx="5394960" cy="822960"/>
          </a:xfrm>
          <a:prstGeom prst="rect">
            <a:avLst/>
          </a:prstGeom>
          <a:noFill/>
          <a:ln/>
        </p:spPr>
        <p:txBody>
          <a:bodyPr wrap="square" lIns="0" tIns="0" rIns="0" bIns="0" rtlCol="0" anchor="t"/>
          <a:lstStyle/>
          <a:p>
            <a:pPr indent="0" marL="0">
              <a:buNone/>
            </a:pPr>
            <a:r>
              <a:rPr lang="en-US" sz="1500" b="1" dirty="0">
                <a:solidFill>
                  <a:schemeClr val="accent4"/>
                </a:solidFill>
              </a:rPr>
              <a:t>22 de 30 años</a:t>
            </a:r>
            <a:pPr indent="0" marL="0">
              <a:buNone/>
            </a:pPr>
            <a:r>
              <a:rPr lang="en-US" sz="1500" dirty="0">
                <a:solidFill>
                  <a:schemeClr val="tx1"/>
                </a:solidFill>
              </a:rPr>
              <a:t> con superávit en Argentina. Los mayores coinciden con las crisis: no por exportar más, sino por importar mucho menos.</a:t>
            </a:r>
            <a:endParaRPr lang="en-US" sz="1500" dirty="0"/>
          </a:p>
        </p:txBody>
      </p:sp>
      <p:sp>
        <p:nvSpPr>
          <p:cNvPr id="6" name="Text 2"/>
          <p:cNvSpPr txBox="1"/>
          <p:nvPr/>
        </p:nvSpPr>
        <p:spPr>
          <a:xfrm>
            <a:off x="6355080" y="5257800"/>
            <a:ext cx="5394960" cy="822960"/>
          </a:xfrm>
          <a:prstGeom prst="rect">
            <a:avLst/>
          </a:prstGeom>
          <a:noFill/>
          <a:ln/>
        </p:spPr>
        <p:txBody>
          <a:bodyPr wrap="square" lIns="0" tIns="0" rIns="0" bIns="0" rtlCol="0" anchor="t"/>
          <a:lstStyle/>
          <a:p>
            <a:pPr indent="0" marL="0">
              <a:buNone/>
            </a:pPr>
            <a:r>
              <a:rPr lang="en-US" sz="1500" b="1" dirty="0">
                <a:solidFill>
                  <a:schemeClr val="accent5"/>
                </a:solidFill>
              </a:rPr>
              <a:t>29 de 30 años</a:t>
            </a:r>
            <a:pPr indent="0" marL="0">
              <a:buNone/>
            </a:pPr>
            <a:r>
              <a:rPr lang="en-US" sz="1500" dirty="0">
                <a:solidFill>
                  <a:schemeClr val="tx1"/>
                </a:solidFill>
              </a:rPr>
              <a:t> con déficit en Uruguay. En 2023 llegó al más alto del período: 3.293 millones de US$.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rPr>
              <a:t>China pasó del 1 % al 20 % y disputa el primer lugar con Brasil</a:t>
            </a:r>
            <a:endParaRPr lang="en-US" sz="3000" dirty="0"/>
          </a:p>
        </p:txBody>
      </p:sp>
      <p:graphicFrame>
        <p:nvGraphicFramePr>
          <p:cNvPr id="3" name="Socios importaciones Argentina" descr=""/>
          <p:cNvGraphicFramePr/>
          <p:nvPr/>
        </p:nvGraphicFramePr>
        <p:xfrm>
          <a:off x="457200" y="1371600"/>
          <a:ext cx="434340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Socios exportaciones Uruguay" descr=""/>
          <p:cNvGraphicFramePr/>
          <p:nvPr/>
        </p:nvGraphicFramePr>
        <p:xfrm>
          <a:off x="4892040" y="1371600"/>
          <a:ext cx="4343400" cy="384048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9509760" y="1417320"/>
            <a:ext cx="2194560" cy="365760"/>
          </a:xfrm>
          <a:prstGeom prst="rect">
            <a:avLst/>
          </a:prstGeom>
          <a:noFill/>
          <a:ln/>
        </p:spPr>
        <p:txBody>
          <a:bodyPr wrap="square" lIns="0" tIns="0" rIns="0" bIns="0" rtlCol="0" anchor="t"/>
          <a:lstStyle/>
          <a:p>
            <a:pPr indent="0" marL="0">
              <a:buNone/>
            </a:pPr>
            <a:r>
              <a:rPr lang="en-US" sz="1400" b="1" dirty="0">
                <a:solidFill>
                  <a:schemeClr val="accent6"/>
                </a:solidFill>
              </a:rPr>
              <a:t>China, primer socio</a:t>
            </a:r>
            <a:endParaRPr lang="en-US" sz="1400" dirty="0"/>
          </a:p>
        </p:txBody>
      </p:sp>
      <p:sp>
        <p:nvSpPr>
          <p:cNvPr id="6" name="Text 2"/>
          <p:cNvSpPr txBox="1"/>
          <p:nvPr/>
        </p:nvSpPr>
        <p:spPr>
          <a:xfrm>
            <a:off x="9509760" y="1828800"/>
            <a:ext cx="2194560"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2020–2022</a:t>
            </a:r>
            <a:endParaRPr lang="en-US" sz="3000" dirty="0"/>
          </a:p>
        </p:txBody>
      </p:sp>
      <p:sp>
        <p:nvSpPr>
          <p:cNvPr id="7" name="Text 3"/>
          <p:cNvSpPr txBox="1"/>
          <p:nvPr/>
        </p:nvSpPr>
        <p:spPr>
          <a:xfrm>
            <a:off x="9509760" y="2377440"/>
            <a:ext cx="2194560" cy="640080"/>
          </a:xfrm>
          <a:prstGeom prst="rect">
            <a:avLst/>
          </a:prstGeom>
          <a:noFill/>
          <a:ln/>
        </p:spPr>
        <p:txBody>
          <a:bodyPr wrap="square" lIns="0" tIns="0" rIns="0" bIns="0" rtlCol="0" anchor="t"/>
          <a:lstStyle/>
          <a:p>
            <a:pPr indent="0" marL="0">
              <a:buNone/>
            </a:pPr>
            <a:r>
              <a:rPr lang="en-US" sz="1400" dirty="0">
                <a:solidFill>
                  <a:schemeClr val="tx1"/>
                </a:solidFill>
              </a:rPr>
              <a:t>origen de las importaciones argentinas</a:t>
            </a:r>
            <a:endParaRPr lang="en-US" sz="1400" dirty="0"/>
          </a:p>
        </p:txBody>
      </p:sp>
      <p:sp>
        <p:nvSpPr>
          <p:cNvPr id="8" name="Text 4"/>
          <p:cNvSpPr txBox="1"/>
          <p:nvPr/>
        </p:nvSpPr>
        <p:spPr>
          <a:xfrm>
            <a:off x="9509760" y="3200400"/>
            <a:ext cx="2194560"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2017–2022</a:t>
            </a:r>
            <a:endParaRPr lang="en-US" sz="3000" dirty="0"/>
          </a:p>
        </p:txBody>
      </p:sp>
      <p:sp>
        <p:nvSpPr>
          <p:cNvPr id="9" name="Text 5"/>
          <p:cNvSpPr txBox="1"/>
          <p:nvPr/>
        </p:nvSpPr>
        <p:spPr>
          <a:xfrm>
            <a:off x="9509760" y="3749040"/>
            <a:ext cx="2194560" cy="640080"/>
          </a:xfrm>
          <a:prstGeom prst="rect">
            <a:avLst/>
          </a:prstGeom>
          <a:noFill/>
          <a:ln/>
        </p:spPr>
        <p:txBody>
          <a:bodyPr wrap="square" lIns="0" tIns="0" rIns="0" bIns="0" rtlCol="0" anchor="t"/>
          <a:lstStyle/>
          <a:p>
            <a:pPr indent="0" marL="0">
              <a:buNone/>
            </a:pPr>
            <a:r>
              <a:rPr lang="en-US" sz="1400" dirty="0">
                <a:solidFill>
                  <a:schemeClr val="tx1"/>
                </a:solidFill>
              </a:rPr>
              <a:t>destino de las exportaciones uruguayas</a:t>
            </a:r>
            <a:endParaRPr lang="en-US" sz="1400" dirty="0"/>
          </a:p>
        </p:txBody>
      </p:sp>
      <p:sp>
        <p:nvSpPr>
          <p:cNvPr id="10" name="Text 6"/>
          <p:cNvSpPr txBox="1"/>
          <p:nvPr/>
        </p:nvSpPr>
        <p:spPr>
          <a:xfrm>
            <a:off x="548640" y="5394960"/>
            <a:ext cx="11064240" cy="731520"/>
          </a:xfrm>
          <a:prstGeom prst="rect">
            <a:avLst/>
          </a:prstGeom>
          <a:noFill/>
          <a:ln/>
        </p:spPr>
        <p:txBody>
          <a:bodyPr wrap="square" lIns="0" tIns="0" rIns="0" bIns="0" rtlCol="0" anchor="t"/>
          <a:lstStyle/>
          <a:p>
            <a:pPr indent="0" marL="0">
              <a:buNone/>
            </a:pPr>
            <a:r>
              <a:rPr lang="en-US" sz="1500" dirty="0">
                <a:solidFill>
                  <a:schemeClr val="tx1"/>
                </a:solidFill>
              </a:rPr>
              <a:t>En 2023 Brasil recuperó el primer lugar en ambos casos. Estados Unidos perdió peso: era el primer origen de las importaciones argentinas en 1994 (22,8 %) y hoy representa el 11,7 %.</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rPr>
              <a:t>Hoy el comercio de ambos países está diversificado</a:t>
            </a:r>
            <a:endParaRPr lang="en-US" sz="3000" dirty="0"/>
          </a:p>
        </p:txBody>
      </p:sp>
      <p:graphicFrame>
        <p:nvGraphicFramePr>
          <p:cNvPr id="3" name="HHI 1994 vs 2023" descr=""/>
          <p:cNvGraphicFramePr/>
          <p:nvPr/>
        </p:nvGraphicFramePr>
        <p:xfrm>
          <a:off x="457200" y="137160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4" name="Lectura HHI fondo"/>
          <p:cNvSpPr/>
          <p:nvPr/>
        </p:nvSpPr>
        <p:spPr>
          <a:xfrm>
            <a:off x="7863840" y="1463040"/>
            <a:ext cx="3840480" cy="4023360"/>
          </a:xfrm>
          <a:prstGeom prst="roundRect">
            <a:avLst>
              <a:gd name="adj" fmla="val 2857"/>
            </a:avLst>
          </a:prstGeom>
          <a:solidFill>
            <a:schemeClr val="bg2"/>
          </a:solidFill>
          <a:ln/>
        </p:spPr>
      </p:sp>
      <p:sp>
        <p:nvSpPr>
          <p:cNvPr id="5" name="Text 2"/>
          <p:cNvSpPr txBox="1"/>
          <p:nvPr/>
        </p:nvSpPr>
        <p:spPr>
          <a:xfrm>
            <a:off x="8183880" y="1737360"/>
            <a:ext cx="3291840" cy="365760"/>
          </a:xfrm>
          <a:prstGeom prst="rect">
            <a:avLst/>
          </a:prstGeom>
          <a:noFill/>
          <a:ln/>
        </p:spPr>
        <p:txBody>
          <a:bodyPr wrap="square" lIns="0" tIns="0" rIns="0" bIns="0" rtlCol="0" anchor="t"/>
          <a:lstStyle/>
          <a:p>
            <a:pPr indent="0" marL="0">
              <a:buNone/>
            </a:pPr>
            <a:r>
              <a:rPr lang="en-US" sz="1600" b="1" dirty="0">
                <a:solidFill>
                  <a:schemeClr val="tx2"/>
                </a:solidFill>
              </a:rPr>
              <a:t>Cómo leerlo</a:t>
            </a:r>
            <a:endParaRPr lang="en-US" sz="1600" dirty="0"/>
          </a:p>
        </p:txBody>
      </p:sp>
      <p:sp>
        <p:nvSpPr>
          <p:cNvPr id="6" name="Text 3"/>
          <p:cNvSpPr txBox="1"/>
          <p:nvPr/>
        </p:nvSpPr>
        <p:spPr>
          <a:xfrm>
            <a:off x="8183880" y="2240280"/>
            <a:ext cx="329184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Menos de 1.500: comercio diversificado.</a:t>
            </a:r>
            <a:endParaRPr lang="en-US" sz="1400" dirty="0"/>
          </a:p>
          <a:p>
            <a:pPr marL="342900" indent="-342900">
              <a:spcAft>
                <a:spcPts val="800"/>
              </a:spcAft>
              <a:buSzPct val="100000"/>
              <a:buChar char="•"/>
            </a:pPr>
            <a:r>
              <a:rPr lang="en-US" sz="1400" dirty="0">
                <a:solidFill>
                  <a:schemeClr val="tx1"/>
                </a:solidFill>
              </a:rPr>
              <a:t>Solo se superó 1.500 cuando Brasil pesaba mucho: exportaciones uruguayas en 1996 y 1998, importaciones argentinas en 2003–2006.</a:t>
            </a:r>
            <a:endParaRPr lang="en-US" sz="1400" dirty="0"/>
          </a:p>
          <a:p>
            <a:pPr marL="342900" indent="-342900">
              <a:spcAft>
                <a:spcPts val="800"/>
              </a:spcAft>
              <a:buSzPct val="100000"/>
              <a:buChar char="•"/>
            </a:pPr>
            <a:r>
              <a:rPr lang="en-US" sz="1400" dirty="0">
                <a:solidFill>
                  <a:schemeClr val="tx1"/>
                </a:solidFill>
              </a:rPr>
              <a:t>Las exportaciones argentinas son las más diversificadas: el HHI bajó de 858 a 595.</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rPr>
              <a:t>Una relación asimétrica, con cifras que no coinciden</a:t>
            </a:r>
            <a:endParaRPr lang="en-US" sz="3000" dirty="0"/>
          </a:p>
        </p:txBody>
      </p:sp>
      <p:sp>
        <p:nvSpPr>
          <p:cNvPr id="3" name="Text 1"/>
          <p:cNvSpPr txBox="1"/>
          <p:nvPr/>
        </p:nvSpPr>
        <p:spPr>
          <a:xfrm>
            <a:off x="548640" y="1417320"/>
            <a:ext cx="4937760" cy="365760"/>
          </a:xfrm>
          <a:prstGeom prst="rect">
            <a:avLst/>
          </a:prstGeom>
          <a:noFill/>
          <a:ln/>
        </p:spPr>
        <p:txBody>
          <a:bodyPr wrap="square" lIns="0" tIns="0" rIns="0" bIns="0" rtlCol="0" anchor="t"/>
          <a:lstStyle/>
          <a:p>
            <a:pPr indent="0" marL="0">
              <a:buNone/>
            </a:pPr>
            <a:r>
              <a:rPr lang="en-US" sz="1400" b="1" dirty="0">
                <a:solidFill>
                  <a:schemeClr val="accent6"/>
                </a:solidFill>
              </a:rPr>
              <a:t>Peso de Argentina en el comercio uruguayo</a:t>
            </a:r>
            <a:endParaRPr lang="en-US" sz="1400" dirty="0"/>
          </a:p>
        </p:txBody>
      </p:sp>
      <p:sp>
        <p:nvSpPr>
          <p:cNvPr id="4" name="Text 2"/>
          <p:cNvSpPr txBox="1"/>
          <p:nvPr/>
        </p:nvSpPr>
        <p:spPr>
          <a:xfrm>
            <a:off x="548640" y="1874520"/>
            <a:ext cx="4937760" cy="68580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20 % → 5 %</a:t>
            </a:r>
            <a:endParaRPr lang="en-US" sz="3600" dirty="0"/>
          </a:p>
        </p:txBody>
      </p:sp>
      <p:sp>
        <p:nvSpPr>
          <p:cNvPr id="5" name="Text 3"/>
          <p:cNvSpPr txBox="1"/>
          <p:nvPr/>
        </p:nvSpPr>
        <p:spPr>
          <a:xfrm>
            <a:off x="548640" y="2560320"/>
            <a:ext cx="4937760" cy="640080"/>
          </a:xfrm>
          <a:prstGeom prst="rect">
            <a:avLst/>
          </a:prstGeom>
          <a:noFill/>
          <a:ln/>
        </p:spPr>
        <p:txBody>
          <a:bodyPr wrap="square" lIns="0" tIns="0" rIns="0" bIns="0" rtlCol="0" anchor="t"/>
          <a:lstStyle/>
          <a:p>
            <a:pPr indent="0" marL="0">
              <a:buNone/>
            </a:pPr>
            <a:r>
              <a:rPr lang="en-US" sz="1400" dirty="0">
                <a:solidFill>
                  <a:schemeClr val="tx1"/>
                </a:solidFill>
              </a:rPr>
              <a:t>de las exportaciones uruguayas</a:t>
            </a:r>
            <a:endParaRPr lang="en-US" sz="1400" dirty="0"/>
          </a:p>
          <a:p>
            <a:pPr indent="0" marL="0">
              <a:buNone/>
            </a:pPr>
            <a:r>
              <a:rPr lang="en-US" sz="1400" dirty="0">
                <a:solidFill>
                  <a:schemeClr val="tx1"/>
                </a:solidFill>
              </a:rPr>
              <a:t>van a Argentina (1994 → 2023)</a:t>
            </a:r>
            <a:endParaRPr lang="en-US" sz="1400" dirty="0"/>
          </a:p>
        </p:txBody>
      </p:sp>
      <p:sp>
        <p:nvSpPr>
          <p:cNvPr id="6" name="Text 4"/>
          <p:cNvSpPr txBox="1"/>
          <p:nvPr/>
        </p:nvSpPr>
        <p:spPr>
          <a:xfrm>
            <a:off x="548640" y="3291840"/>
            <a:ext cx="4937760" cy="68580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22 % → 12 %</a:t>
            </a:r>
            <a:endParaRPr lang="en-US" sz="3600" dirty="0"/>
          </a:p>
        </p:txBody>
      </p:sp>
      <p:sp>
        <p:nvSpPr>
          <p:cNvPr id="7" name="Text 5"/>
          <p:cNvSpPr txBox="1"/>
          <p:nvPr/>
        </p:nvSpPr>
        <p:spPr>
          <a:xfrm>
            <a:off x="548640" y="3977640"/>
            <a:ext cx="4937760" cy="640080"/>
          </a:xfrm>
          <a:prstGeom prst="rect">
            <a:avLst/>
          </a:prstGeom>
          <a:noFill/>
          <a:ln/>
        </p:spPr>
        <p:txBody>
          <a:bodyPr wrap="square" lIns="0" tIns="0" rIns="0" bIns="0" rtlCol="0" anchor="t"/>
          <a:lstStyle/>
          <a:p>
            <a:pPr indent="0" marL="0">
              <a:buNone/>
            </a:pPr>
            <a:r>
              <a:rPr lang="en-US" sz="1400" dirty="0">
                <a:solidFill>
                  <a:schemeClr val="tx1"/>
                </a:solidFill>
              </a:rPr>
              <a:t>de las importaciones uruguayas</a:t>
            </a:r>
            <a:endParaRPr lang="en-US" sz="1400" dirty="0"/>
          </a:p>
          <a:p>
            <a:pPr indent="0" marL="0">
              <a:buNone/>
            </a:pPr>
            <a:r>
              <a:rPr lang="en-US" sz="1400" dirty="0">
                <a:solidFill>
                  <a:schemeClr val="tx1"/>
                </a:solidFill>
              </a:rPr>
              <a:t>vienen de Argentina (1994 → 2023)</a:t>
            </a:r>
            <a:endParaRPr lang="en-US" sz="1400" dirty="0"/>
          </a:p>
        </p:txBody>
      </p:sp>
      <p:sp>
        <p:nvSpPr>
          <p:cNvPr id="8" name="Text 6"/>
          <p:cNvSpPr txBox="1"/>
          <p:nvPr/>
        </p:nvSpPr>
        <p:spPr>
          <a:xfrm>
            <a:off x="548640" y="4800600"/>
            <a:ext cx="4937760" cy="731520"/>
          </a:xfrm>
          <a:prstGeom prst="rect">
            <a:avLst/>
          </a:prstGeom>
          <a:noFill/>
          <a:ln/>
        </p:spPr>
        <p:txBody>
          <a:bodyPr wrap="square" lIns="0" tIns="0" rIns="0" bIns="0" rtlCol="0" anchor="t"/>
          <a:lstStyle/>
          <a:p>
            <a:pPr indent="0" marL="0">
              <a:buNone/>
            </a:pPr>
            <a:r>
              <a:rPr lang="en-US" sz="1500" dirty="0">
                <a:solidFill>
                  <a:schemeClr val="tx1"/>
                </a:solidFill>
              </a:rPr>
              <a:t>Para Argentina, Uruguay es apenas el 2,5 % de sus exportaciones: una relación asimétrica.</a:t>
            </a:r>
            <a:endParaRPr lang="en-US" sz="1500" dirty="0"/>
          </a:p>
        </p:txBody>
      </p:sp>
      <p:graphicFrame>
        <p:nvGraphicFramePr>
          <p:cNvPr id="9" name="Comparación espejo" descr=""/>
          <p:cNvGraphicFramePr/>
          <p:nvPr/>
        </p:nvGraphicFramePr>
        <p:xfrm>
          <a:off x="5943600" y="1371600"/>
          <a:ext cx="5760720" cy="393192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6035040" y="5394960"/>
            <a:ext cx="5669280" cy="731520"/>
          </a:xfrm>
          <a:prstGeom prst="rect">
            <a:avLst/>
          </a:prstGeom>
          <a:noFill/>
          <a:ln/>
        </p:spPr>
        <p:txBody>
          <a:bodyPr wrap="square" lIns="0" tIns="0" rIns="0" bIns="0" rtlCol="0" anchor="t"/>
          <a:lstStyle/>
          <a:p>
            <a:pPr indent="0" marL="0">
              <a:buNone/>
            </a:pPr>
            <a:r>
              <a:rPr lang="en-US" sz="1300" i="1" dirty="0">
                <a:solidFill>
                  <a:schemeClr val="accent6"/>
                </a:solidFill>
              </a:rPr>
              <a:t>Lo esperable es entre +5 % y +10 % (flete y seguro). Una hipótesis a confirmar: el comercio de las zonas francas uruguayas.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rPr>
              <a:t>El dashboard: Argentina y Uruguay lado a lado</a:t>
            </a:r>
            <a:endParaRPr lang="en-US" sz="3000" dirty="0"/>
          </a:p>
        </p:txBody>
      </p:sp>
      <p:sp>
        <p:nvSpPr>
          <p:cNvPr id="3" name="Espacio para captura del dashboard"/>
          <p:cNvSpPr/>
          <p:nvPr/>
        </p:nvSpPr>
        <p:spPr>
          <a:xfrm>
            <a:off x="548640" y="1371600"/>
            <a:ext cx="7498080" cy="4663440"/>
          </a:xfrm>
          <a:prstGeom prst="roundRect">
            <a:avLst>
              <a:gd name="adj" fmla="val 1961"/>
            </a:avLst>
          </a:prstGeom>
          <a:solidFill>
            <a:schemeClr val="bg2"/>
          </a:solidFill>
          <a:ln w="12700">
            <a:solidFill>
              <a:srgbClr val="9AA5B1"/>
            </a:solidFill>
            <a:prstDash val="dash"/>
          </a:ln>
        </p:spPr>
      </p:sp>
      <p:sp>
        <p:nvSpPr>
          <p:cNvPr id="4" name="Text 2"/>
          <p:cNvSpPr txBox="1"/>
          <p:nvPr/>
        </p:nvSpPr>
        <p:spPr>
          <a:xfrm>
            <a:off x="548640" y="3429000"/>
            <a:ext cx="7498080" cy="548640"/>
          </a:xfrm>
          <a:prstGeom prst="rect">
            <a:avLst/>
          </a:prstGeom>
          <a:noFill/>
          <a:ln/>
        </p:spPr>
        <p:txBody>
          <a:bodyPr wrap="square" lIns="0" tIns="0" rIns="0" bIns="0" rtlCol="0" anchor="ctr"/>
          <a:lstStyle/>
          <a:p>
            <a:pPr algn="ctr" indent="0" marL="0">
              <a:buNone/>
            </a:pPr>
            <a:r>
              <a:rPr lang="en-US" sz="1600" dirty="0">
                <a:solidFill>
                  <a:schemeClr val="accent6"/>
                </a:solidFill>
              </a:rPr>
              <a:t>Pegar acá una captura del dashboard de Power BI</a:t>
            </a:r>
            <a:endParaRPr lang="en-US" sz="1600" dirty="0"/>
          </a:p>
        </p:txBody>
      </p:sp>
      <p:sp>
        <p:nvSpPr>
          <p:cNvPr id="5" name="Text 3"/>
          <p:cNvSpPr txBox="1"/>
          <p:nvPr/>
        </p:nvSpPr>
        <p:spPr>
          <a:xfrm>
            <a:off x="8412480" y="1463040"/>
            <a:ext cx="3291840" cy="365760"/>
          </a:xfrm>
          <a:prstGeom prst="rect">
            <a:avLst/>
          </a:prstGeom>
          <a:noFill/>
          <a:ln/>
        </p:spPr>
        <p:txBody>
          <a:bodyPr wrap="square" lIns="0" tIns="0" rIns="0" bIns="0" rtlCol="0" anchor="t"/>
          <a:lstStyle/>
          <a:p>
            <a:pPr indent="0" marL="0">
              <a:buNone/>
            </a:pPr>
            <a:r>
              <a:rPr lang="en-US" sz="1600" b="1" dirty="0">
                <a:solidFill>
                  <a:schemeClr val="tx2"/>
                </a:solidFill>
              </a:rPr>
              <a:t>Qué permite hacer</a:t>
            </a:r>
            <a:endParaRPr lang="en-US" sz="1600" dirty="0"/>
          </a:p>
        </p:txBody>
      </p:sp>
      <p:sp>
        <p:nvSpPr>
          <p:cNvPr id="6" name="Text 4"/>
          <p:cNvSpPr txBox="1"/>
          <p:nvPr/>
        </p:nvSpPr>
        <p:spPr>
          <a:xfrm>
            <a:off x="8412480" y="1965960"/>
            <a:ext cx="3291840" cy="39319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Elegir el año y ver los totales y el top 5 de socios de cada país</a:t>
            </a:r>
            <a:endParaRPr lang="en-US" sz="1500" dirty="0"/>
          </a:p>
          <a:p>
            <a:pPr marL="342900" indent="-342900">
              <a:spcAft>
                <a:spcPts val="1000"/>
              </a:spcAft>
              <a:buSzPct val="100000"/>
              <a:buChar char="•"/>
            </a:pPr>
            <a:r>
              <a:rPr lang="en-US" sz="1500" dirty="0">
                <a:solidFill>
                  <a:schemeClr val="tx1"/>
                </a:solidFill>
              </a:rPr>
              <a:t>Cambiar entre exportaciones e importaciones</a:t>
            </a:r>
            <a:endParaRPr lang="en-US" sz="1500" dirty="0"/>
          </a:p>
          <a:p>
            <a:pPr marL="342900" indent="-342900">
              <a:spcAft>
                <a:spcPts val="1000"/>
              </a:spcAft>
              <a:buSzPct val="100000"/>
              <a:buChar char="•"/>
            </a:pPr>
            <a:r>
              <a:rPr lang="en-US" sz="1500" dirty="0">
                <a:solidFill>
                  <a:schemeClr val="tx1"/>
                </a:solidFill>
              </a:rPr>
              <a:t>Ver las crisis y la balanza en 30 años de serie</a:t>
            </a:r>
            <a:endParaRPr lang="en-US" sz="1500" dirty="0"/>
          </a:p>
          <a:p>
            <a:pPr marL="342900" indent="-342900">
              <a:spcAft>
                <a:spcPts val="1000"/>
              </a:spcAft>
              <a:buSzPct val="100000"/>
              <a:buChar char="•"/>
            </a:pPr>
            <a:r>
              <a:rPr lang="en-US" sz="1500" dirty="0">
                <a:solidFill>
                  <a:schemeClr val="tx1"/>
                </a:solidFill>
              </a:rPr>
              <a:t>Seguir la concentración con el índice HHI</a:t>
            </a:r>
            <a:endParaRPr lang="en-US" sz="1500" dirty="0"/>
          </a:p>
          <a:p>
            <a:pPr marL="342900" indent="-342900">
              <a:spcAft>
                <a:spcPts val="1000"/>
              </a:spcAft>
              <a:buSzPct val="100000"/>
              <a:buChar char="•"/>
            </a:pPr>
            <a:r>
              <a:rPr lang="en-US" sz="1500" dirty="0">
                <a:solidFill>
                  <a:schemeClr val="tx1"/>
                </a:solidFill>
              </a:rPr>
              <a:t>Actualizarse con un clic cuando hay datos nuevos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bg1"/>
                </a:solidFill>
              </a:rPr>
              <a:t>Conclusiones</a:t>
            </a:r>
            <a:endParaRPr lang="en-US" sz="3000" dirty="0"/>
          </a:p>
        </p:txBody>
      </p:sp>
      <p:sp>
        <p:nvSpPr>
          <p:cNvPr id="3" name="Conclusión 1 fondo"/>
          <p:cNvSpPr/>
          <p:nvPr/>
        </p:nvSpPr>
        <p:spPr>
          <a:xfrm>
            <a:off x="548640" y="1463040"/>
            <a:ext cx="5394960" cy="2103120"/>
          </a:xfrm>
          <a:prstGeom prst="roundRect">
            <a:avLst>
              <a:gd name="adj" fmla="val 5217"/>
            </a:avLst>
          </a:prstGeom>
          <a:solidFill>
            <a:srgbClr val="1E4268"/>
          </a:solidFill>
          <a:ln/>
        </p:spPr>
      </p:sp>
      <p:sp>
        <p:nvSpPr>
          <p:cNvPr id="4" name="Conclusión 1 marca"/>
          <p:cNvSpPr/>
          <p:nvPr/>
        </p:nvSpPr>
        <p:spPr>
          <a:xfrm>
            <a:off x="822960" y="1783080"/>
            <a:ext cx="320040" cy="320040"/>
          </a:xfrm>
          <a:prstGeom prst="ellipse">
            <a:avLst/>
          </a:prstGeom>
          <a:solidFill>
            <a:schemeClr val="accent2"/>
          </a:solidFill>
          <a:ln/>
        </p:spPr>
      </p:sp>
      <p:sp>
        <p:nvSpPr>
          <p:cNvPr id="5" name="Text 3"/>
          <p:cNvSpPr txBox="1"/>
          <p:nvPr/>
        </p:nvSpPr>
        <p:spPr>
          <a:xfrm>
            <a:off x="1325880" y="1719072"/>
            <a:ext cx="4389120" cy="457200"/>
          </a:xfrm>
          <a:prstGeom prst="rect">
            <a:avLst/>
          </a:prstGeom>
          <a:noFill/>
          <a:ln/>
        </p:spPr>
        <p:txBody>
          <a:bodyPr wrap="square" lIns="0" tIns="0" rIns="0" bIns="0" rtlCol="0" anchor="t"/>
          <a:lstStyle/>
          <a:p>
            <a:pPr indent="0" marL="0">
              <a:buNone/>
            </a:pPr>
            <a:r>
              <a:rPr lang="en-US" sz="2000" b="1" dirty="0">
                <a:solidFill>
                  <a:schemeClr val="bg1"/>
                </a:solidFill>
              </a:rPr>
              <a:t>La vulnerabilidad está en las crisis</a:t>
            </a:r>
            <a:endParaRPr lang="en-US" sz="2000" dirty="0"/>
          </a:p>
        </p:txBody>
      </p:sp>
      <p:sp>
        <p:nvSpPr>
          <p:cNvPr id="6" name="Text 4"/>
          <p:cNvSpPr txBox="1"/>
          <p:nvPr/>
        </p:nvSpPr>
        <p:spPr>
          <a:xfrm>
            <a:off x="1325880" y="2286000"/>
            <a:ext cx="4389120" cy="1097280"/>
          </a:xfrm>
          <a:prstGeom prst="rect">
            <a:avLst/>
          </a:prstGeom>
          <a:noFill/>
          <a:ln/>
        </p:spPr>
        <p:txBody>
          <a:bodyPr wrap="square" lIns="0" tIns="0" rIns="0" bIns="0" rtlCol="0" anchor="t"/>
          <a:lstStyle/>
          <a:p>
            <a:pPr indent="0" marL="0">
              <a:buNone/>
            </a:pPr>
            <a:r>
              <a:rPr lang="en-US" sz="1600" dirty="0">
                <a:solidFill>
                  <a:srgbClr val="D6E4F2"/>
                </a:solidFill>
              </a:rPr>
              <a:t>Las importaciones caen hasta 56 % en un año. Es el canal por el que llega el golpe.</a:t>
            </a:r>
            <a:endParaRPr lang="en-US" sz="1600" dirty="0"/>
          </a:p>
        </p:txBody>
      </p:sp>
      <p:sp>
        <p:nvSpPr>
          <p:cNvPr id="7" name="Conclusión 2 fondo"/>
          <p:cNvSpPr/>
          <p:nvPr/>
        </p:nvSpPr>
        <p:spPr>
          <a:xfrm>
            <a:off x="6172200" y="1463040"/>
            <a:ext cx="5394960" cy="2103120"/>
          </a:xfrm>
          <a:prstGeom prst="roundRect">
            <a:avLst>
              <a:gd name="adj" fmla="val 5217"/>
            </a:avLst>
          </a:prstGeom>
          <a:solidFill>
            <a:srgbClr val="1E4268"/>
          </a:solidFill>
          <a:ln/>
        </p:spPr>
      </p:sp>
      <p:sp>
        <p:nvSpPr>
          <p:cNvPr id="8" name="Conclusión 2 marca"/>
          <p:cNvSpPr/>
          <p:nvPr/>
        </p:nvSpPr>
        <p:spPr>
          <a:xfrm>
            <a:off x="6446520" y="1783080"/>
            <a:ext cx="320040" cy="320040"/>
          </a:xfrm>
          <a:prstGeom prst="ellipse">
            <a:avLst/>
          </a:prstGeom>
          <a:solidFill>
            <a:schemeClr val="accent2"/>
          </a:solidFill>
          <a:ln/>
        </p:spPr>
      </p:sp>
      <p:sp>
        <p:nvSpPr>
          <p:cNvPr id="9" name="Text 7"/>
          <p:cNvSpPr txBox="1"/>
          <p:nvPr/>
        </p:nvSpPr>
        <p:spPr>
          <a:xfrm>
            <a:off x="6949440" y="1719072"/>
            <a:ext cx="4389120" cy="457200"/>
          </a:xfrm>
          <a:prstGeom prst="rect">
            <a:avLst/>
          </a:prstGeom>
          <a:noFill/>
          <a:ln/>
        </p:spPr>
        <p:txBody>
          <a:bodyPr wrap="square" lIns="0" tIns="0" rIns="0" bIns="0" rtlCol="0" anchor="t"/>
          <a:lstStyle/>
          <a:p>
            <a:pPr indent="0" marL="0">
              <a:buNone/>
            </a:pPr>
            <a:r>
              <a:rPr lang="en-US" sz="2000" b="1" dirty="0">
                <a:solidFill>
                  <a:schemeClr val="bg1"/>
                </a:solidFill>
              </a:rPr>
              <a:t>No en la concentración</a:t>
            </a:r>
            <a:endParaRPr lang="en-US" sz="2000" dirty="0"/>
          </a:p>
        </p:txBody>
      </p:sp>
      <p:sp>
        <p:nvSpPr>
          <p:cNvPr id="10" name="Text 8"/>
          <p:cNvSpPr txBox="1"/>
          <p:nvPr/>
        </p:nvSpPr>
        <p:spPr>
          <a:xfrm>
            <a:off x="6949440" y="2286000"/>
            <a:ext cx="4389120" cy="1097280"/>
          </a:xfrm>
          <a:prstGeom prst="rect">
            <a:avLst/>
          </a:prstGeom>
          <a:noFill/>
          <a:ln/>
        </p:spPr>
        <p:txBody>
          <a:bodyPr wrap="square" lIns="0" tIns="0" rIns="0" bIns="0" rtlCol="0" anchor="t"/>
          <a:lstStyle/>
          <a:p>
            <a:pPr indent="0" marL="0">
              <a:buNone/>
            </a:pPr>
            <a:r>
              <a:rPr lang="en-US" sz="1600" dirty="0">
                <a:solidFill>
                  <a:srgbClr val="D6E4F2"/>
                </a:solidFill>
              </a:rPr>
              <a:t>Ningún flujo supera hoy un HHI de 1.200: dependen de varios socios, no de uno.</a:t>
            </a:r>
            <a:endParaRPr lang="en-US" sz="1600" dirty="0"/>
          </a:p>
        </p:txBody>
      </p:sp>
      <p:sp>
        <p:nvSpPr>
          <p:cNvPr id="11" name="Conclusión 3 fondo"/>
          <p:cNvSpPr/>
          <p:nvPr/>
        </p:nvSpPr>
        <p:spPr>
          <a:xfrm>
            <a:off x="548640" y="3794760"/>
            <a:ext cx="5394960" cy="2103120"/>
          </a:xfrm>
          <a:prstGeom prst="roundRect">
            <a:avLst>
              <a:gd name="adj" fmla="val 5217"/>
            </a:avLst>
          </a:prstGeom>
          <a:solidFill>
            <a:srgbClr val="1E4268"/>
          </a:solidFill>
          <a:ln/>
        </p:spPr>
      </p:sp>
      <p:sp>
        <p:nvSpPr>
          <p:cNvPr id="12" name="Conclusión 3 marca"/>
          <p:cNvSpPr/>
          <p:nvPr/>
        </p:nvSpPr>
        <p:spPr>
          <a:xfrm>
            <a:off x="822960" y="4114800"/>
            <a:ext cx="320040" cy="320040"/>
          </a:xfrm>
          <a:prstGeom prst="ellipse">
            <a:avLst/>
          </a:prstGeom>
          <a:solidFill>
            <a:schemeClr val="accent2"/>
          </a:solidFill>
          <a:ln/>
        </p:spPr>
      </p:sp>
      <p:sp>
        <p:nvSpPr>
          <p:cNvPr id="13" name="Text 11"/>
          <p:cNvSpPr txBox="1"/>
          <p:nvPr/>
        </p:nvSpPr>
        <p:spPr>
          <a:xfrm>
            <a:off x="1325880" y="4050792"/>
            <a:ext cx="4389120" cy="457200"/>
          </a:xfrm>
          <a:prstGeom prst="rect">
            <a:avLst/>
          </a:prstGeom>
          <a:noFill/>
          <a:ln/>
        </p:spPr>
        <p:txBody>
          <a:bodyPr wrap="square" lIns="0" tIns="0" rIns="0" bIns="0" rtlCol="0" anchor="t"/>
          <a:lstStyle/>
          <a:p>
            <a:pPr indent="0" marL="0">
              <a:buNone/>
            </a:pPr>
            <a:r>
              <a:rPr lang="en-US" sz="2000" b="1" dirty="0">
                <a:solidFill>
                  <a:schemeClr val="bg1"/>
                </a:solidFill>
              </a:rPr>
              <a:t>China cambió el mapa</a:t>
            </a:r>
            <a:endParaRPr lang="en-US" sz="2000" dirty="0"/>
          </a:p>
        </p:txBody>
      </p:sp>
      <p:sp>
        <p:nvSpPr>
          <p:cNvPr id="14" name="Text 12"/>
          <p:cNvSpPr txBox="1"/>
          <p:nvPr/>
        </p:nvSpPr>
        <p:spPr>
          <a:xfrm>
            <a:off x="1325880" y="4617720"/>
            <a:ext cx="4389120" cy="1097280"/>
          </a:xfrm>
          <a:prstGeom prst="rect">
            <a:avLst/>
          </a:prstGeom>
          <a:noFill/>
          <a:ln/>
        </p:spPr>
        <p:txBody>
          <a:bodyPr wrap="square" lIns="0" tIns="0" rIns="0" bIns="0" rtlCol="0" anchor="t"/>
          <a:lstStyle/>
          <a:p>
            <a:pPr indent="0" marL="0">
              <a:buNone/>
            </a:pPr>
            <a:r>
              <a:rPr lang="en-US" sz="1600" dirty="0">
                <a:solidFill>
                  <a:srgbClr val="D6E4F2"/>
                </a:solidFill>
              </a:rPr>
              <a:t>Pasó del 1 % a cerca del 20 % y compite con Brasil por el primer lugar.</a:t>
            </a:r>
            <a:endParaRPr lang="en-US" sz="1600" dirty="0"/>
          </a:p>
        </p:txBody>
      </p:sp>
      <p:sp>
        <p:nvSpPr>
          <p:cNvPr id="15" name="Conclusión 4 fondo"/>
          <p:cNvSpPr/>
          <p:nvPr/>
        </p:nvSpPr>
        <p:spPr>
          <a:xfrm>
            <a:off x="6172200" y="3794760"/>
            <a:ext cx="5394960" cy="2103120"/>
          </a:xfrm>
          <a:prstGeom prst="roundRect">
            <a:avLst>
              <a:gd name="adj" fmla="val 5217"/>
            </a:avLst>
          </a:prstGeom>
          <a:solidFill>
            <a:srgbClr val="1E4268"/>
          </a:solidFill>
          <a:ln/>
        </p:spPr>
      </p:sp>
      <p:sp>
        <p:nvSpPr>
          <p:cNvPr id="16" name="Conclusión 4 marca"/>
          <p:cNvSpPr/>
          <p:nvPr/>
        </p:nvSpPr>
        <p:spPr>
          <a:xfrm>
            <a:off x="6446520" y="4114800"/>
            <a:ext cx="320040" cy="320040"/>
          </a:xfrm>
          <a:prstGeom prst="ellipse">
            <a:avLst/>
          </a:prstGeom>
          <a:solidFill>
            <a:schemeClr val="accent2"/>
          </a:solidFill>
          <a:ln/>
        </p:spPr>
      </p:sp>
      <p:sp>
        <p:nvSpPr>
          <p:cNvPr id="17" name="Text 15"/>
          <p:cNvSpPr txBox="1"/>
          <p:nvPr/>
        </p:nvSpPr>
        <p:spPr>
          <a:xfrm>
            <a:off x="6949440" y="4050792"/>
            <a:ext cx="4389120" cy="457200"/>
          </a:xfrm>
          <a:prstGeom prst="rect">
            <a:avLst/>
          </a:prstGeom>
          <a:noFill/>
          <a:ln/>
        </p:spPr>
        <p:txBody>
          <a:bodyPr wrap="square" lIns="0" tIns="0" rIns="0" bIns="0" rtlCol="0" anchor="t"/>
          <a:lstStyle/>
          <a:p>
            <a:pPr indent="0" marL="0">
              <a:buNone/>
            </a:pPr>
            <a:r>
              <a:rPr lang="en-US" sz="2000" b="1" dirty="0">
                <a:solidFill>
                  <a:schemeClr val="bg1"/>
                </a:solidFill>
              </a:rPr>
              <a:t>Vecinos con modelos distintos</a:t>
            </a:r>
            <a:endParaRPr lang="en-US" sz="2000" dirty="0"/>
          </a:p>
        </p:txBody>
      </p:sp>
      <p:sp>
        <p:nvSpPr>
          <p:cNvPr id="18" name="Text 16"/>
          <p:cNvSpPr txBox="1"/>
          <p:nvPr/>
        </p:nvSpPr>
        <p:spPr>
          <a:xfrm>
            <a:off x="6949440" y="4617720"/>
            <a:ext cx="4389120" cy="1097280"/>
          </a:xfrm>
          <a:prstGeom prst="rect">
            <a:avLst/>
          </a:prstGeom>
          <a:noFill/>
          <a:ln/>
        </p:spPr>
        <p:txBody>
          <a:bodyPr wrap="square" lIns="0" tIns="0" rIns="0" bIns="0" rtlCol="0" anchor="t"/>
          <a:lstStyle/>
          <a:p>
            <a:pPr indent="0" marL="0">
              <a:buNone/>
            </a:pPr>
            <a:r>
              <a:rPr lang="en-US" sz="1600" dirty="0">
                <a:solidFill>
                  <a:srgbClr val="D6E4F2"/>
                </a:solidFill>
              </a:rPr>
              <a:t>Argentina con superávit, Uruguay con déficit y cada vez menos dependiente de Argentina.</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rPr>
              <a:t>Recomendaciones</a:t>
            </a:r>
            <a:endParaRPr lang="en-US" sz="3000" dirty="0"/>
          </a:p>
        </p:txBody>
      </p:sp>
      <p:sp>
        <p:nvSpPr>
          <p:cNvPr id="3" name="Recomendación 1 círculo"/>
          <p:cNvSpPr/>
          <p:nvPr/>
        </p:nvSpPr>
        <p:spPr>
          <a:xfrm>
            <a:off x="548640" y="1417320"/>
            <a:ext cx="822960" cy="822960"/>
          </a:xfrm>
          <a:prstGeom prst="ellipse">
            <a:avLst/>
          </a:prstGeom>
          <a:solidFill>
            <a:srgbClr val="5DA9E9"/>
          </a:solidFill>
          <a:ln/>
        </p:spPr>
      </p:sp>
      <p:pic>
        <p:nvPicPr>
          <p:cNvPr id="4" name="Recomendación 1 ícono" descr="preencoded.png">    </p:cNvPr>
          <p:cNvPicPr>
            <a:picLocks noChangeAspect="1"/>
          </p:cNvPicPr>
          <p:nvPr/>
        </p:nvPicPr>
        <p:blipFill>
          <a:blip r:embed="rId1"/>
          <a:stretch>
            <a:fillRect/>
          </a:stretch>
        </p:blipFill>
        <p:spPr>
          <a:xfrm>
            <a:off x="762610" y="1631290"/>
            <a:ext cx="395021" cy="395021"/>
          </a:xfrm>
          <a:prstGeom prst="rect">
            <a:avLst/>
          </a:prstGeom>
        </p:spPr>
      </p:pic>
      <p:sp>
        <p:nvSpPr>
          <p:cNvPr id="5" name="Text 2"/>
          <p:cNvSpPr txBox="1"/>
          <p:nvPr/>
        </p:nvSpPr>
        <p:spPr>
          <a:xfrm>
            <a:off x="1645920" y="1435608"/>
            <a:ext cx="9966960" cy="384048"/>
          </a:xfrm>
          <a:prstGeom prst="rect">
            <a:avLst/>
          </a:prstGeom>
          <a:noFill/>
          <a:ln/>
        </p:spPr>
        <p:txBody>
          <a:bodyPr wrap="square" lIns="0" tIns="0" rIns="0" bIns="0" rtlCol="0" anchor="t"/>
          <a:lstStyle/>
          <a:p>
            <a:pPr indent="0" marL="0">
              <a:buNone/>
            </a:pPr>
            <a:r>
              <a:rPr lang="en-US" sz="1900" b="1" dirty="0">
                <a:solidFill>
                  <a:schemeClr val="tx2"/>
                </a:solidFill>
              </a:rPr>
              <a:t>Usar las importaciones como alerta temprana</a:t>
            </a:r>
            <a:endParaRPr lang="en-US" sz="1900" dirty="0"/>
          </a:p>
        </p:txBody>
      </p:sp>
      <p:sp>
        <p:nvSpPr>
          <p:cNvPr id="6" name="Text 3"/>
          <p:cNvSpPr txBox="1"/>
          <p:nvPr/>
        </p:nvSpPr>
        <p:spPr>
          <a:xfrm>
            <a:off x="1645920" y="1856232"/>
            <a:ext cx="9966960" cy="457200"/>
          </a:xfrm>
          <a:prstGeom prst="rect">
            <a:avLst/>
          </a:prstGeom>
          <a:noFill/>
          <a:ln/>
        </p:spPr>
        <p:txBody>
          <a:bodyPr wrap="square" lIns="0" tIns="0" rIns="0" bIns="0" rtlCol="0" anchor="t"/>
          <a:lstStyle/>
          <a:p>
            <a:pPr indent="0" marL="0">
              <a:buNone/>
            </a:pPr>
            <a:r>
              <a:rPr lang="en-US" sz="1500" dirty="0">
                <a:solidFill>
                  <a:schemeClr val="tx1"/>
                </a:solidFill>
              </a:rPr>
              <a:t>Seguir su variación interanual en el dashboard: una caída fuerte anticipa una crisis interna.</a:t>
            </a:r>
            <a:endParaRPr lang="en-US" sz="1500" dirty="0"/>
          </a:p>
        </p:txBody>
      </p:sp>
      <p:sp>
        <p:nvSpPr>
          <p:cNvPr id="7" name="Recomendación 2 círculo"/>
          <p:cNvSpPr/>
          <p:nvPr/>
        </p:nvSpPr>
        <p:spPr>
          <a:xfrm>
            <a:off x="548640" y="2624328"/>
            <a:ext cx="822960" cy="822960"/>
          </a:xfrm>
          <a:prstGeom prst="ellipse">
            <a:avLst/>
          </a:prstGeom>
          <a:solidFill>
            <a:srgbClr val="5DA9E9"/>
          </a:solidFill>
          <a:ln/>
        </p:spPr>
      </p:sp>
      <p:pic>
        <p:nvPicPr>
          <p:cNvPr id="8" name="Recomendación 2 ícono" descr="preencoded.png">    </p:cNvPr>
          <p:cNvPicPr>
            <a:picLocks noChangeAspect="1"/>
          </p:cNvPicPr>
          <p:nvPr/>
        </p:nvPicPr>
        <p:blipFill>
          <a:blip r:embed="rId2"/>
          <a:stretch>
            <a:fillRect/>
          </a:stretch>
        </p:blipFill>
        <p:spPr>
          <a:xfrm>
            <a:off x="762610" y="2838298"/>
            <a:ext cx="395021" cy="395021"/>
          </a:xfrm>
          <a:prstGeom prst="rect">
            <a:avLst/>
          </a:prstGeom>
        </p:spPr>
      </p:pic>
      <p:sp>
        <p:nvSpPr>
          <p:cNvPr id="9" name="Text 5"/>
          <p:cNvSpPr txBox="1"/>
          <p:nvPr/>
        </p:nvSpPr>
        <p:spPr>
          <a:xfrm>
            <a:off x="1645920" y="2642616"/>
            <a:ext cx="9966960" cy="384048"/>
          </a:xfrm>
          <a:prstGeom prst="rect">
            <a:avLst/>
          </a:prstGeom>
          <a:noFill/>
          <a:ln/>
        </p:spPr>
        <p:txBody>
          <a:bodyPr wrap="square" lIns="0" tIns="0" rIns="0" bIns="0" rtlCol="0" anchor="t"/>
          <a:lstStyle/>
          <a:p>
            <a:pPr indent="0" marL="0">
              <a:buNone/>
            </a:pPr>
            <a:r>
              <a:rPr lang="en-US" sz="1900" b="1" dirty="0">
                <a:solidFill>
                  <a:schemeClr val="tx2"/>
                </a:solidFill>
              </a:rPr>
              <a:t>Seguir diversificando destinos</a:t>
            </a:r>
            <a:endParaRPr lang="en-US" sz="1900" dirty="0"/>
          </a:p>
        </p:txBody>
      </p:sp>
      <p:sp>
        <p:nvSpPr>
          <p:cNvPr id="10" name="Text 6"/>
          <p:cNvSpPr txBox="1"/>
          <p:nvPr/>
        </p:nvSpPr>
        <p:spPr>
          <a:xfrm>
            <a:off x="1645920" y="3063240"/>
            <a:ext cx="9966960" cy="457200"/>
          </a:xfrm>
          <a:prstGeom prst="rect">
            <a:avLst/>
          </a:prstGeom>
          <a:noFill/>
          <a:ln/>
        </p:spPr>
        <p:txBody>
          <a:bodyPr wrap="square" lIns="0" tIns="0" rIns="0" bIns="0" rtlCol="0" anchor="t"/>
          <a:lstStyle/>
          <a:p>
            <a:pPr indent="0" marL="0">
              <a:buNone/>
            </a:pPr>
            <a:r>
              <a:rPr lang="en-US" sz="1500" dirty="0">
                <a:solidFill>
                  <a:schemeClr val="tx1"/>
                </a:solidFill>
              </a:rPr>
              <a:t>Sobre todo en Uruguay, donde China llegó al 27 % de las exportaciones en 2021.</a:t>
            </a:r>
            <a:endParaRPr lang="en-US" sz="1500" dirty="0"/>
          </a:p>
        </p:txBody>
      </p:sp>
      <p:sp>
        <p:nvSpPr>
          <p:cNvPr id="11" name="Recomendación 3 círculo"/>
          <p:cNvSpPr/>
          <p:nvPr/>
        </p:nvSpPr>
        <p:spPr>
          <a:xfrm>
            <a:off x="548640" y="3831336"/>
            <a:ext cx="822960" cy="822960"/>
          </a:xfrm>
          <a:prstGeom prst="ellipse">
            <a:avLst/>
          </a:prstGeom>
          <a:solidFill>
            <a:srgbClr val="5DA9E9"/>
          </a:solidFill>
          <a:ln/>
        </p:spPr>
      </p:sp>
      <p:pic>
        <p:nvPicPr>
          <p:cNvPr id="12" name="Recomendación 3 ícono" descr="preencoded.png">    </p:cNvPr>
          <p:cNvPicPr>
            <a:picLocks noChangeAspect="1"/>
          </p:cNvPicPr>
          <p:nvPr/>
        </p:nvPicPr>
        <p:blipFill>
          <a:blip r:embed="rId3"/>
          <a:stretch>
            <a:fillRect/>
          </a:stretch>
        </p:blipFill>
        <p:spPr>
          <a:xfrm>
            <a:off x="762610" y="4045306"/>
            <a:ext cx="395021" cy="395021"/>
          </a:xfrm>
          <a:prstGeom prst="rect">
            <a:avLst/>
          </a:prstGeom>
        </p:spPr>
      </p:pic>
      <p:sp>
        <p:nvSpPr>
          <p:cNvPr id="13" name="Text 8"/>
          <p:cNvSpPr txBox="1"/>
          <p:nvPr/>
        </p:nvSpPr>
        <p:spPr>
          <a:xfrm>
            <a:off x="1645920" y="3849624"/>
            <a:ext cx="9966960" cy="384048"/>
          </a:xfrm>
          <a:prstGeom prst="rect">
            <a:avLst/>
          </a:prstGeom>
          <a:noFill/>
          <a:ln/>
        </p:spPr>
        <p:txBody>
          <a:bodyPr wrap="square" lIns="0" tIns="0" rIns="0" bIns="0" rtlCol="0" anchor="t"/>
          <a:lstStyle/>
          <a:p>
            <a:pPr indent="0" marL="0">
              <a:buNone/>
            </a:pPr>
            <a:r>
              <a:rPr lang="en-US" sz="1900" b="1" dirty="0">
                <a:solidFill>
                  <a:schemeClr val="tx2"/>
                </a:solidFill>
              </a:rPr>
              <a:t>Conciliar las estadísticas bilaterales</a:t>
            </a:r>
            <a:endParaRPr lang="en-US" sz="1900" dirty="0"/>
          </a:p>
        </p:txBody>
      </p:sp>
      <p:sp>
        <p:nvSpPr>
          <p:cNvPr id="14" name="Text 9"/>
          <p:cNvSpPr txBox="1"/>
          <p:nvPr/>
        </p:nvSpPr>
        <p:spPr>
          <a:xfrm>
            <a:off x="1645920" y="4270248"/>
            <a:ext cx="9966960" cy="457200"/>
          </a:xfrm>
          <a:prstGeom prst="rect">
            <a:avLst/>
          </a:prstGeom>
          <a:noFill/>
          <a:ln/>
        </p:spPr>
        <p:txBody>
          <a:bodyPr wrap="square" lIns="0" tIns="0" rIns="0" bIns="0" rtlCol="0" anchor="t"/>
          <a:lstStyle/>
          <a:p>
            <a:pPr indent="0" marL="0">
              <a:buNone/>
            </a:pPr>
            <a:r>
              <a:rPr lang="en-US" sz="1500" dirty="0">
                <a:solidFill>
                  <a:schemeClr val="tx1"/>
                </a:solidFill>
              </a:rPr>
              <a:t>Investigar con las aduanas por qué las cifras espejo no coinciden, empezando por las zonas francas.</a:t>
            </a:r>
            <a:endParaRPr lang="en-US" sz="1500" dirty="0"/>
          </a:p>
        </p:txBody>
      </p:sp>
      <p:sp>
        <p:nvSpPr>
          <p:cNvPr id="15" name="Recomendación 4 círculo"/>
          <p:cNvSpPr/>
          <p:nvPr/>
        </p:nvSpPr>
        <p:spPr>
          <a:xfrm>
            <a:off x="548640" y="5038344"/>
            <a:ext cx="822960" cy="822960"/>
          </a:xfrm>
          <a:prstGeom prst="ellipse">
            <a:avLst/>
          </a:prstGeom>
          <a:solidFill>
            <a:srgbClr val="5DA9E9"/>
          </a:solidFill>
          <a:ln/>
        </p:spPr>
      </p:sp>
      <p:pic>
        <p:nvPicPr>
          <p:cNvPr id="16" name="Recomendación 4 ícono" descr="preencoded.png">    </p:cNvPr>
          <p:cNvPicPr>
            <a:picLocks noChangeAspect="1"/>
          </p:cNvPicPr>
          <p:nvPr/>
        </p:nvPicPr>
        <p:blipFill>
          <a:blip r:embed="rId4"/>
          <a:stretch>
            <a:fillRect/>
          </a:stretch>
        </p:blipFill>
        <p:spPr>
          <a:xfrm>
            <a:off x="762610" y="5252314"/>
            <a:ext cx="395021" cy="395021"/>
          </a:xfrm>
          <a:prstGeom prst="rect">
            <a:avLst/>
          </a:prstGeom>
        </p:spPr>
      </p:pic>
      <p:sp>
        <p:nvSpPr>
          <p:cNvPr id="17" name="Text 11"/>
          <p:cNvSpPr txBox="1"/>
          <p:nvPr/>
        </p:nvSpPr>
        <p:spPr>
          <a:xfrm>
            <a:off x="1645920" y="5056632"/>
            <a:ext cx="9966960" cy="384048"/>
          </a:xfrm>
          <a:prstGeom prst="rect">
            <a:avLst/>
          </a:prstGeom>
          <a:noFill/>
          <a:ln/>
        </p:spPr>
        <p:txBody>
          <a:bodyPr wrap="square" lIns="0" tIns="0" rIns="0" bIns="0" rtlCol="0" anchor="t"/>
          <a:lstStyle/>
          <a:p>
            <a:pPr indent="0" marL="0">
              <a:buNone/>
            </a:pPr>
            <a:r>
              <a:rPr lang="en-US" sz="1900" b="1" dirty="0">
                <a:solidFill>
                  <a:schemeClr val="tx2"/>
                </a:solidFill>
              </a:rPr>
              <a:t>Ampliar y mantener el análisis</a:t>
            </a:r>
            <a:endParaRPr lang="en-US" sz="1900" dirty="0"/>
          </a:p>
        </p:txBody>
      </p:sp>
      <p:sp>
        <p:nvSpPr>
          <p:cNvPr id="18" name="Text 12"/>
          <p:cNvSpPr txBox="1"/>
          <p:nvPr/>
        </p:nvSpPr>
        <p:spPr>
          <a:xfrm>
            <a:off x="1645920" y="5477256"/>
            <a:ext cx="9966960" cy="457200"/>
          </a:xfrm>
          <a:prstGeom prst="rect">
            <a:avLst/>
          </a:prstGeom>
          <a:noFill/>
          <a:ln/>
        </p:spPr>
        <p:txBody>
          <a:bodyPr wrap="square" lIns="0" tIns="0" rIns="0" bIns="0" rtlCol="0" anchor="t"/>
          <a:lstStyle/>
          <a:p>
            <a:pPr indent="0" marL="0">
              <a:buNone/>
            </a:pPr>
            <a:r>
              <a:rPr lang="en-US" sz="1500" dirty="0">
                <a:solidFill>
                  <a:schemeClr val="tx1"/>
                </a:solidFill>
              </a:rPr>
              <a:t>Agregar productos, dólares constantes y servicios; actualizar los datos cada año con el mismo proceso.</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400" b="1" dirty="0">
                <a:solidFill>
                  <a:schemeClr val="bg1"/>
                </a:solidFill>
              </a:rPr>
              <a:t>¡Gracias!</a:t>
            </a:r>
            <a:endParaRPr lang="en-US" sz="4400" dirty="0"/>
          </a:p>
        </p:txBody>
      </p:sp>
      <p:sp>
        <p:nvSpPr>
          <p:cNvPr id="3" name="Text 0"/>
          <p:cNvSpPr/>
          <p:nvPr>
            <p:ph idx="101" type="body" hasCustomPrompt="1"/>
          </p:nvPr>
        </p:nvSpPr>
        <p:spPr>
          <a:xfrm>
            <a:off x="731520" y="3657600"/>
            <a:ext cx="10698480" cy="1280160"/>
          </a:xfrm>
          <a:prstGeom prst="rect">
            <a:avLst/>
          </a:prstGeom>
          <a:noFill/>
          <a:ln/>
        </p:spPr>
        <p:txBody>
          <a:bodyPr wrap="square" lIns="0" tIns="0" rIns="0" bIns="0" rtlCol="0" anchor="t"/>
          <a:lstStyle/>
          <a:p>
            <a:pPr algn="l" indent="0" marL="0">
              <a:buNone/>
            </a:pPr>
            <a:r>
              <a:rPr lang="en-US" sz="2000" dirty="0">
                <a:solidFill>
                  <a:schemeClr val="accent1"/>
                </a:solidFill>
              </a:rPr>
              <a:t>Preguntas y comentarios</a:t>
            </a:r>
            <a:endParaRPr lang="en-US" sz="2000" dirty="0"/>
          </a:p>
        </p:txBody>
      </p:sp>
      <p:sp>
        <p:nvSpPr>
          <p:cNvPr id="4" name="Text 2"/>
          <p:cNvSpPr txBox="1"/>
          <p:nvPr/>
        </p:nvSpPr>
        <p:spPr>
          <a:xfrm>
            <a:off x="731520" y="5943600"/>
            <a:ext cx="10698480" cy="365760"/>
          </a:xfrm>
          <a:prstGeom prst="rect">
            <a:avLst/>
          </a:prstGeom>
          <a:noFill/>
          <a:ln/>
        </p:spPr>
        <p:txBody>
          <a:bodyPr wrap="square" lIns="0" tIns="0" rIns="0" bIns="0" rtlCol="0" anchor="t"/>
          <a:lstStyle/>
          <a:p>
            <a:pPr indent="0" marL="0">
              <a:buNone/>
            </a:pPr>
            <a:r>
              <a:rPr lang="en-US" sz="1300" dirty="0">
                <a:solidFill>
                  <a:schemeClr val="bg2"/>
                </a:solidFill>
              </a:rPr>
              <a:t>Archivos del proyecto: notebook de Python · ddl.sql · carga.sql · analisis.sql · dashboard.pbix · informe técnico</a:t>
            </a:r>
            <a:endParaRPr lang="en-US" sz="1300" dirty="0"/>
          </a:p>
        </p:txBody>
      </p:sp>
      <p:sp>
        <p:nvSpPr>
          <p:cNvPr id="5" name="Sol"/>
          <p:cNvSpPr/>
          <p:nvPr/>
        </p:nvSpPr>
        <p:spPr>
          <a:xfrm>
            <a:off x="10332720" y="640080"/>
            <a:ext cx="1097280" cy="1097280"/>
          </a:xfrm>
          <a:prstGeom prst="ellipse">
            <a:avLst/>
          </a:prstGeom>
          <a:solidFill>
            <a:schemeClr val="accent2"/>
          </a:solidFill>
          <a:ln/>
        </p:spPr>
      </p:sp>
    </p:spTree>
  </p:cSld>
  <p:clrMapOvr>
    <a:masterClrMapping/>
  </p:clrMapOvr>
</p:sld>
</file>

<file path=ppt/theme/theme1.xml><?xml version="1.0" encoding="utf-8"?>
<a:theme xmlns:a="http://schemas.openxmlformats.org/drawingml/2006/main" name="Rio de la Plata">
  <a:themeElements>
    <a:clrScheme name="Rio de la Plata">
      <a:dk1>
        <a:srgbClr val="1E2A36"/>
      </a:dk1>
      <a:lt1>
        <a:srgbClr val="FFFFFF"/>
      </a:lt1>
      <a:dk2>
        <a:srgbClr val="14304F"/>
      </a:dk2>
      <a:lt2>
        <a:srgbClr val="EEF3F8"/>
      </a:lt2>
      <a:accent1>
        <a:srgbClr val="5DA9E9"/>
      </a:accent1>
      <a:accent2>
        <a:srgbClr val="E8A317"/>
      </a:accent2>
      <a:accent3>
        <a:srgbClr val="9AA5B1"/>
      </a:accent3>
      <a:accent4>
        <a:srgbClr val="3E8E5E"/>
      </a:accent4>
      <a:accent5>
        <a:srgbClr val="C8553D"/>
      </a:accent5>
      <a:accent6>
        <a:srgbClr val="6B7C8F"/>
      </a:accent6>
      <a:hlink>
        <a:srgbClr val="2F6FB0"/>
      </a:hlink>
      <a:folHlink>
        <a:srgbClr val="6B7C8F"/>
      </a:folHlink>
    </a:clrScheme>
    <a:fontScheme name="Rio de la Pl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Comercio exterior de Argentina y Uruguay (1994-2023)</dc:title>
  <dc:subject>PptxGenJS Presentation</dc:subject>
  <dc:creator>Proyecto Integrador</dc:creator>
  <cp:lastModifiedBy>Proyecto Integrador</cp:lastModifiedBy>
  <cp:revision>1</cp:revision>
  <dcterms:created xsi:type="dcterms:W3CDTF">2026-10-26T14:34:05Z</dcterms:created>
  <dcterms:modified xsi:type="dcterms:W3CDTF">2026-10-26T14:34:05Z</dcterms:modified>
</cp:coreProperties>
</file>